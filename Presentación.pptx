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3" r:id="rId3"/>
  </p:sldMasterIdLst>
  <p:notesMasterIdLst>
    <p:notesMasterId r:id="rId13"/>
  </p:notesMasterIdLst>
  <p:sldIdLst>
    <p:sldId id="256" r:id="rId4"/>
    <p:sldId id="257" r:id="rId5"/>
    <p:sldId id="285" r:id="rId6"/>
    <p:sldId id="279" r:id="rId7"/>
    <p:sldId id="277" r:id="rId8"/>
    <p:sldId id="278" r:id="rId9"/>
    <p:sldId id="286" r:id="rId10"/>
    <p:sldId id="281" r:id="rId11"/>
    <p:sldId id="272" r:id="rId12"/>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84A3AC6-0E21-4083-B0E0-7AE252E19E1A}">
          <p14:sldIdLst>
            <p14:sldId id="256"/>
            <p14:sldId id="257"/>
            <p14:sldId id="285"/>
            <p14:sldId id="279"/>
            <p14:sldId id="277"/>
            <p14:sldId id="278"/>
            <p14:sldId id="286"/>
            <p14:sldId id="28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3935"/>
    <a:srgbClr val="E1251B"/>
    <a:srgbClr val="D40000"/>
    <a:srgbClr val="E702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BBA70F-28C9-C5BA-E25B-272CACE533AD}" v="1215" dt="2026-06-27T20:28:45.491"/>
    <p1510:client id="{6CE5A3C2-923A-417B-051C-7360EB295DD1}" v="77" dt="2026-06-27T19:26:40.328"/>
    <p1510:client id="{F6D099D2-96B7-F8AF-8F5A-71EBB824830C}" v="467" dt="2026-06-27T20:00:30.81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46"/>
    <p:restoredTop sz="94640"/>
  </p:normalViewPr>
  <p:slideViewPr>
    <p:cSldViewPr snapToGrid="0">
      <p:cViewPr varScale="1">
        <p:scale>
          <a:sx n="150" d="100"/>
          <a:sy n="150" d="100"/>
        </p:scale>
        <p:origin x="137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DA625A-1E97-42BF-8747-C8A5EBD3E456}" type="datetimeFigureOut">
              <a:rPr lang="es-CL" smtClean="0"/>
              <a:t>30-06-2026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D739DD-6ED6-48A8-A4C1-57D9553C6EAE}" type="slidenum">
              <a:rPr lang="es-CL" smtClean="0"/>
              <a:t>‹#›</a:t>
            </a:fld>
            <a:endParaRPr lang="es-CL"/>
          </a:p>
        </p:txBody>
      </p:sp>
    </p:spTree>
    <p:extLst>
      <p:ext uri="{BB962C8B-B14F-4D97-AF65-F5344CB8AC3E}">
        <p14:creationId xmlns:p14="http://schemas.microsoft.com/office/powerpoint/2010/main" val="563617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emf"/><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PORTAD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752ED50-8615-4318-7301-E6CA6708F3DB}"/>
              </a:ext>
            </a:extLst>
          </p:cNvPr>
          <p:cNvSpPr/>
          <p:nvPr userDrawn="1"/>
        </p:nvSpPr>
        <p:spPr>
          <a:xfrm>
            <a:off x="0" y="1293962"/>
            <a:ext cx="7470475" cy="4313208"/>
          </a:xfrm>
          <a:prstGeom prst="rect">
            <a:avLst/>
          </a:pr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 name="Marcador de título 1">
            <a:extLst>
              <a:ext uri="{FF2B5EF4-FFF2-40B4-BE49-F238E27FC236}">
                <a16:creationId xmlns:a16="http://schemas.microsoft.com/office/drawing/2014/main" id="{026367F1-5373-E8E9-8876-F309C37826A2}"/>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p>
            <a:r>
              <a:rPr lang="es-MX" dirty="0"/>
              <a:t>Texto 1</a:t>
            </a:r>
            <a:endParaRPr lang="es-CL" dirty="0"/>
          </a:p>
        </p:txBody>
      </p:sp>
      <p:cxnSp>
        <p:nvCxnSpPr>
          <p:cNvPr id="4" name="Conector recto 3">
            <a:extLst>
              <a:ext uri="{FF2B5EF4-FFF2-40B4-BE49-F238E27FC236}">
                <a16:creationId xmlns:a16="http://schemas.microsoft.com/office/drawing/2014/main" id="{59B6D429-1712-54A2-B5F3-B54E033789E4}"/>
              </a:ext>
            </a:extLst>
          </p:cNvPr>
          <p:cNvCxnSpPr>
            <a:cxnSpLocks/>
          </p:cNvCxnSpPr>
          <p:nvPr userDrawn="1"/>
        </p:nvCxnSpPr>
        <p:spPr>
          <a:xfrm>
            <a:off x="838200" y="3956197"/>
            <a:ext cx="0" cy="809767"/>
          </a:xfrm>
          <a:prstGeom prst="line">
            <a:avLst/>
          </a:prstGeom>
          <a:ln w="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5" name="Marcador de texto 6">
            <a:extLst>
              <a:ext uri="{FF2B5EF4-FFF2-40B4-BE49-F238E27FC236}">
                <a16:creationId xmlns:a16="http://schemas.microsoft.com/office/drawing/2014/main" id="{B0EF2307-685E-32CC-313F-A3B832CA04C1}"/>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latin typeface="Montserrat" pitchFamily="2" charset="77"/>
              </a:defRPr>
            </a:lvl1pPr>
            <a:lvl2pPr marL="457200" indent="0">
              <a:buNone/>
              <a:defRPr sz="1200"/>
            </a:lvl2pPr>
            <a:lvl3pPr>
              <a:defRPr sz="1200"/>
            </a:lvl3pPr>
            <a:lvl4pPr>
              <a:defRPr sz="1200"/>
            </a:lvl4pPr>
            <a:lvl5pPr>
              <a:defRPr sz="1200"/>
            </a:lvl5pPr>
          </a:lstStyle>
          <a:p>
            <a:pPr lvl="0"/>
            <a:r>
              <a:rPr lang="es-MX" dirty="0"/>
              <a:t>Lorem ipsum dolor sit amet, consectetur adipiscing elit. Duis egestas posuere mi.</a:t>
            </a:r>
          </a:p>
        </p:txBody>
      </p:sp>
      <p:sp>
        <p:nvSpPr>
          <p:cNvPr id="6" name="Marcador de texto 16">
            <a:extLst>
              <a:ext uri="{FF2B5EF4-FFF2-40B4-BE49-F238E27FC236}">
                <a16:creationId xmlns:a16="http://schemas.microsoft.com/office/drawing/2014/main" id="{BF598CED-6DF9-F670-812C-3B03498D26C3}"/>
              </a:ext>
            </a:extLst>
          </p:cNvPr>
          <p:cNvSpPr>
            <a:spLocks noGrp="1"/>
          </p:cNvSpPr>
          <p:nvPr>
            <p:ph type="body" sz="quarter" idx="12" hasCustomPrompt="1"/>
          </p:nvPr>
        </p:nvSpPr>
        <p:spPr>
          <a:xfrm>
            <a:off x="838199" y="2789549"/>
            <a:ext cx="4879419" cy="815664"/>
          </a:xfrm>
          <a:prstGeom prst="rect">
            <a:avLst/>
          </a:prstGeom>
        </p:spPr>
        <p:txBody>
          <a:bodyPr/>
          <a:lstStyle>
            <a:lvl1pPr>
              <a:defRPr sz="4800"/>
            </a:lvl1pPr>
          </a:lstStyle>
          <a:p>
            <a:pPr lvl="0"/>
            <a:r>
              <a:rPr lang="es-MX" dirty="0"/>
              <a:t>Título Presentación</a:t>
            </a:r>
            <a:endParaRPr lang="es-CL" dirty="0"/>
          </a:p>
        </p:txBody>
      </p:sp>
      <p:sp>
        <p:nvSpPr>
          <p:cNvPr id="11" name="Flecha: pentágono 8">
            <a:extLst>
              <a:ext uri="{FF2B5EF4-FFF2-40B4-BE49-F238E27FC236}">
                <a16:creationId xmlns:a16="http://schemas.microsoft.com/office/drawing/2014/main" id="{623B8876-99A5-0E10-FDA4-B7F09E5E19D6}"/>
              </a:ext>
            </a:extLst>
          </p:cNvPr>
          <p:cNvSpPr/>
          <p:nvPr userDrawn="1"/>
        </p:nvSpPr>
        <p:spPr>
          <a:xfrm rot="5400000">
            <a:off x="708077" y="142407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pic>
        <p:nvPicPr>
          <p:cNvPr id="8" name="Imagen 7">
            <a:extLst>
              <a:ext uri="{FF2B5EF4-FFF2-40B4-BE49-F238E27FC236}">
                <a16:creationId xmlns:a16="http://schemas.microsoft.com/office/drawing/2014/main" id="{771B9185-3B2B-D437-AE86-85D6413F33D5}"/>
              </a:ext>
            </a:extLst>
          </p:cNvPr>
          <p:cNvPicPr>
            <a:picLocks noChangeAspect="1"/>
          </p:cNvPicPr>
          <p:nvPr userDrawn="1"/>
        </p:nvPicPr>
        <p:blipFill>
          <a:blip r:embed="rId2"/>
          <a:stretch>
            <a:fillRect/>
          </a:stretch>
        </p:blipFill>
        <p:spPr>
          <a:xfrm>
            <a:off x="9585146" y="1223143"/>
            <a:ext cx="2028909" cy="1566406"/>
          </a:xfrm>
          <a:prstGeom prst="rect">
            <a:avLst/>
          </a:prstGeom>
        </p:spPr>
      </p:pic>
    </p:spTree>
    <p:extLst>
      <p:ext uri="{BB962C8B-B14F-4D97-AF65-F5344CB8AC3E}">
        <p14:creationId xmlns:p14="http://schemas.microsoft.com/office/powerpoint/2010/main" val="2582630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0B9F8ED1-59C1-13AB-FDC2-D2F841126D41}"/>
              </a:ext>
            </a:extLst>
          </p:cNvPr>
          <p:cNvSpPr/>
          <p:nvPr userDrawn="1"/>
        </p:nvSpPr>
        <p:spPr>
          <a:xfrm>
            <a:off x="0" y="1293962"/>
            <a:ext cx="7470475" cy="431320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 name="Marcador de título 1">
            <a:extLst>
              <a:ext uri="{FF2B5EF4-FFF2-40B4-BE49-F238E27FC236}">
                <a16:creationId xmlns:a16="http://schemas.microsoft.com/office/drawing/2014/main" id="{FF83659B-4A17-32B9-7FAC-0FB3455C4C24}"/>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lvl1pPr>
              <a:defRPr>
                <a:solidFill>
                  <a:srgbClr val="3D3935"/>
                </a:solidFill>
              </a:defRPr>
            </a:lvl1pPr>
          </a:lstStyle>
          <a:p>
            <a:r>
              <a:rPr lang="es-MX" dirty="0"/>
              <a:t>Texto 1</a:t>
            </a:r>
            <a:endParaRPr lang="es-CL" dirty="0"/>
          </a:p>
        </p:txBody>
      </p:sp>
      <p:cxnSp>
        <p:nvCxnSpPr>
          <p:cNvPr id="5" name="Conector recto 4">
            <a:extLst>
              <a:ext uri="{FF2B5EF4-FFF2-40B4-BE49-F238E27FC236}">
                <a16:creationId xmlns:a16="http://schemas.microsoft.com/office/drawing/2014/main" id="{B057BD19-847F-0A7B-6B13-C0CD5BF538B5}"/>
              </a:ext>
            </a:extLst>
          </p:cNvPr>
          <p:cNvCxnSpPr>
            <a:cxnSpLocks/>
          </p:cNvCxnSpPr>
          <p:nvPr userDrawn="1"/>
        </p:nvCxnSpPr>
        <p:spPr>
          <a:xfrm>
            <a:off x="838200" y="3956197"/>
            <a:ext cx="0" cy="809767"/>
          </a:xfrm>
          <a:prstGeom prst="line">
            <a:avLst/>
          </a:prstGeom>
          <a:ln w="0" cmpd="sng">
            <a:solidFill>
              <a:srgbClr val="E1251B"/>
            </a:solidFill>
          </a:ln>
        </p:spPr>
        <p:style>
          <a:lnRef idx="1">
            <a:schemeClr val="accent1"/>
          </a:lnRef>
          <a:fillRef idx="0">
            <a:schemeClr val="accent1"/>
          </a:fillRef>
          <a:effectRef idx="0">
            <a:schemeClr val="accent1"/>
          </a:effectRef>
          <a:fontRef idx="minor">
            <a:schemeClr val="tx1"/>
          </a:fontRef>
        </p:style>
      </p:cxnSp>
      <p:sp>
        <p:nvSpPr>
          <p:cNvPr id="7" name="Marcador de texto 6">
            <a:extLst>
              <a:ext uri="{FF2B5EF4-FFF2-40B4-BE49-F238E27FC236}">
                <a16:creationId xmlns:a16="http://schemas.microsoft.com/office/drawing/2014/main" id="{8CA731E1-E976-E864-ADB4-389178F87D36}"/>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solidFill>
                  <a:srgbClr val="3D3935"/>
                </a:solidFill>
                <a:latin typeface="Montserrat" pitchFamily="2" charset="77"/>
              </a:defRPr>
            </a:lvl1pPr>
            <a:lvl2pPr marL="457200" indent="0">
              <a:buNone/>
              <a:defRPr sz="1200"/>
            </a:lvl2pPr>
            <a:lvl3pPr>
              <a:defRPr sz="1200"/>
            </a:lvl3pPr>
            <a:lvl4pPr>
              <a:defRPr sz="1200"/>
            </a:lvl4pPr>
            <a:lvl5pPr>
              <a:defRPr sz="1200"/>
            </a:lvl5pPr>
          </a:lstStyle>
          <a:p>
            <a:pPr lvl="0"/>
            <a:r>
              <a:rPr lang="es-MX" dirty="0"/>
              <a:t>Lorem ipsum dolor sit amet, consectetur adipiscing elit. Duis egestas posuere mi.</a:t>
            </a:r>
          </a:p>
        </p:txBody>
      </p:sp>
      <p:sp>
        <p:nvSpPr>
          <p:cNvPr id="17" name="Marcador de texto 16">
            <a:extLst>
              <a:ext uri="{FF2B5EF4-FFF2-40B4-BE49-F238E27FC236}">
                <a16:creationId xmlns:a16="http://schemas.microsoft.com/office/drawing/2014/main" id="{CFC94173-BF1D-8949-1A4E-BB2A6E25800C}"/>
              </a:ext>
            </a:extLst>
          </p:cNvPr>
          <p:cNvSpPr>
            <a:spLocks noGrp="1"/>
          </p:cNvSpPr>
          <p:nvPr>
            <p:ph type="body" sz="quarter" idx="12" hasCustomPrompt="1"/>
          </p:nvPr>
        </p:nvSpPr>
        <p:spPr>
          <a:xfrm>
            <a:off x="838199" y="2789549"/>
            <a:ext cx="4879419" cy="815664"/>
          </a:xfrm>
          <a:prstGeom prst="rect">
            <a:avLst/>
          </a:prstGeom>
        </p:spPr>
        <p:txBody>
          <a:bodyPr/>
          <a:lstStyle>
            <a:lvl1pPr>
              <a:defRPr sz="4800">
                <a:solidFill>
                  <a:srgbClr val="3D3935"/>
                </a:solidFill>
              </a:defRPr>
            </a:lvl1pPr>
          </a:lstStyle>
          <a:p>
            <a:pPr lvl="0"/>
            <a:r>
              <a:rPr lang="es-MX" dirty="0"/>
              <a:t>Título Presentación</a:t>
            </a:r>
            <a:endParaRPr lang="es-CL" dirty="0"/>
          </a:p>
        </p:txBody>
      </p:sp>
      <p:sp>
        <p:nvSpPr>
          <p:cNvPr id="2" name="Flecha: pentágono 8">
            <a:extLst>
              <a:ext uri="{FF2B5EF4-FFF2-40B4-BE49-F238E27FC236}">
                <a16:creationId xmlns:a16="http://schemas.microsoft.com/office/drawing/2014/main" id="{5F18CB2E-C54F-924F-B7A5-A55137ADA7D9}"/>
              </a:ext>
            </a:extLst>
          </p:cNvPr>
          <p:cNvSpPr/>
          <p:nvPr userDrawn="1"/>
        </p:nvSpPr>
        <p:spPr>
          <a:xfrm rot="5400000">
            <a:off x="708077" y="142407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pic>
        <p:nvPicPr>
          <p:cNvPr id="4" name="Imagen 3">
            <a:extLst>
              <a:ext uri="{FF2B5EF4-FFF2-40B4-BE49-F238E27FC236}">
                <a16:creationId xmlns:a16="http://schemas.microsoft.com/office/drawing/2014/main" id="{D0D4DBA3-44D6-2901-17C6-7615E3C45D09}"/>
              </a:ext>
            </a:extLst>
          </p:cNvPr>
          <p:cNvPicPr>
            <a:picLocks noChangeAspect="1"/>
          </p:cNvPicPr>
          <p:nvPr userDrawn="1"/>
        </p:nvPicPr>
        <p:blipFill>
          <a:blip r:embed="rId2"/>
          <a:stretch>
            <a:fillRect/>
          </a:stretch>
        </p:blipFill>
        <p:spPr>
          <a:xfrm>
            <a:off x="9585146" y="1223143"/>
            <a:ext cx="2028909" cy="1566406"/>
          </a:xfrm>
          <a:prstGeom prst="rect">
            <a:avLst/>
          </a:prstGeom>
        </p:spPr>
      </p:pic>
    </p:spTree>
    <p:extLst>
      <p:ext uri="{BB962C8B-B14F-4D97-AF65-F5344CB8AC3E}">
        <p14:creationId xmlns:p14="http://schemas.microsoft.com/office/powerpoint/2010/main" val="1852086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PORTAD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752ED50-8615-4318-7301-E6CA6708F3DB}"/>
              </a:ext>
            </a:extLst>
          </p:cNvPr>
          <p:cNvSpPr/>
          <p:nvPr userDrawn="1"/>
        </p:nvSpPr>
        <p:spPr>
          <a:xfrm>
            <a:off x="0" y="1293962"/>
            <a:ext cx="7470475" cy="4313208"/>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solidFill>
                <a:srgbClr val="3D3935"/>
              </a:solidFill>
            </a:endParaRPr>
          </a:p>
        </p:txBody>
      </p:sp>
      <p:sp>
        <p:nvSpPr>
          <p:cNvPr id="3" name="Marcador de título 1">
            <a:extLst>
              <a:ext uri="{FF2B5EF4-FFF2-40B4-BE49-F238E27FC236}">
                <a16:creationId xmlns:a16="http://schemas.microsoft.com/office/drawing/2014/main" id="{026367F1-5373-E8E9-8876-F309C37826A2}"/>
              </a:ext>
            </a:extLst>
          </p:cNvPr>
          <p:cNvSpPr>
            <a:spLocks noGrp="1"/>
          </p:cNvSpPr>
          <p:nvPr>
            <p:ph type="title"/>
          </p:nvPr>
        </p:nvSpPr>
        <p:spPr>
          <a:xfrm>
            <a:off x="838200" y="2418950"/>
            <a:ext cx="3639207" cy="370599"/>
          </a:xfrm>
          <a:prstGeom prst="rect">
            <a:avLst/>
          </a:prstGeom>
        </p:spPr>
        <p:txBody>
          <a:bodyPr vert="horz" lIns="91440" tIns="45720" rIns="91440" bIns="45720" rtlCol="0" anchor="b">
            <a:normAutofit/>
          </a:bodyPr>
          <a:lstStyle/>
          <a:p>
            <a:r>
              <a:rPr lang="es-MX" dirty="0"/>
              <a:t>Texto 1</a:t>
            </a:r>
            <a:endParaRPr lang="es-CL" dirty="0"/>
          </a:p>
        </p:txBody>
      </p:sp>
      <p:cxnSp>
        <p:nvCxnSpPr>
          <p:cNvPr id="4" name="Conector recto 3">
            <a:extLst>
              <a:ext uri="{FF2B5EF4-FFF2-40B4-BE49-F238E27FC236}">
                <a16:creationId xmlns:a16="http://schemas.microsoft.com/office/drawing/2014/main" id="{59B6D429-1712-54A2-B5F3-B54E033789E4}"/>
              </a:ext>
            </a:extLst>
          </p:cNvPr>
          <p:cNvCxnSpPr>
            <a:cxnSpLocks/>
          </p:cNvCxnSpPr>
          <p:nvPr userDrawn="1"/>
        </p:nvCxnSpPr>
        <p:spPr>
          <a:xfrm>
            <a:off x="838200" y="3956197"/>
            <a:ext cx="0" cy="809767"/>
          </a:xfrm>
          <a:prstGeom prst="line">
            <a:avLst/>
          </a:prstGeom>
          <a:ln w="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5" name="Marcador de texto 6">
            <a:extLst>
              <a:ext uri="{FF2B5EF4-FFF2-40B4-BE49-F238E27FC236}">
                <a16:creationId xmlns:a16="http://schemas.microsoft.com/office/drawing/2014/main" id="{B0EF2307-685E-32CC-313F-A3B832CA04C1}"/>
              </a:ext>
            </a:extLst>
          </p:cNvPr>
          <p:cNvSpPr>
            <a:spLocks noGrp="1"/>
          </p:cNvSpPr>
          <p:nvPr>
            <p:ph type="body" sz="quarter" idx="10" hasCustomPrompt="1"/>
          </p:nvPr>
        </p:nvSpPr>
        <p:spPr>
          <a:xfrm>
            <a:off x="1093788" y="3956050"/>
            <a:ext cx="4545012" cy="809767"/>
          </a:xfrm>
          <a:prstGeom prst="rect">
            <a:avLst/>
          </a:prstGeom>
        </p:spPr>
        <p:txBody>
          <a:bodyPr/>
          <a:lstStyle>
            <a:lvl1pPr>
              <a:defRPr sz="1400" b="0" i="0">
                <a:latin typeface="Montserrat" pitchFamily="2" charset="77"/>
              </a:defRPr>
            </a:lvl1pPr>
            <a:lvl2pPr marL="457200" indent="0">
              <a:buNone/>
              <a:defRPr sz="1200"/>
            </a:lvl2pPr>
            <a:lvl3pPr>
              <a:defRPr sz="1200"/>
            </a:lvl3pPr>
            <a:lvl4pPr>
              <a:defRPr sz="1200"/>
            </a:lvl4pPr>
            <a:lvl5pPr>
              <a:defRPr sz="1200"/>
            </a:lvl5pPr>
          </a:lstStyle>
          <a:p>
            <a:pPr lvl="0"/>
            <a:r>
              <a:rPr lang="es-MX" dirty="0"/>
              <a:t>Lorem ipsum dolor sit amet, consectetur adipiscing elit. Duis egestas posuere mi.</a:t>
            </a:r>
          </a:p>
        </p:txBody>
      </p:sp>
      <p:sp>
        <p:nvSpPr>
          <p:cNvPr id="6" name="Marcador de texto 16">
            <a:extLst>
              <a:ext uri="{FF2B5EF4-FFF2-40B4-BE49-F238E27FC236}">
                <a16:creationId xmlns:a16="http://schemas.microsoft.com/office/drawing/2014/main" id="{BF598CED-6DF9-F670-812C-3B03498D26C3}"/>
              </a:ext>
            </a:extLst>
          </p:cNvPr>
          <p:cNvSpPr>
            <a:spLocks noGrp="1"/>
          </p:cNvSpPr>
          <p:nvPr>
            <p:ph type="body" sz="quarter" idx="12" hasCustomPrompt="1"/>
          </p:nvPr>
        </p:nvSpPr>
        <p:spPr>
          <a:xfrm>
            <a:off x="838199" y="2789549"/>
            <a:ext cx="4879419" cy="815664"/>
          </a:xfrm>
          <a:prstGeom prst="rect">
            <a:avLst/>
          </a:prstGeom>
        </p:spPr>
        <p:txBody>
          <a:bodyPr/>
          <a:lstStyle>
            <a:lvl1pPr>
              <a:defRPr sz="4800"/>
            </a:lvl1pPr>
          </a:lstStyle>
          <a:p>
            <a:pPr lvl="0"/>
            <a:r>
              <a:rPr lang="es-MX" dirty="0"/>
              <a:t>Título Presentación</a:t>
            </a:r>
            <a:endParaRPr lang="es-CL" dirty="0"/>
          </a:p>
        </p:txBody>
      </p:sp>
      <p:sp>
        <p:nvSpPr>
          <p:cNvPr id="9" name="Flecha: pentágono 8">
            <a:extLst>
              <a:ext uri="{FF2B5EF4-FFF2-40B4-BE49-F238E27FC236}">
                <a16:creationId xmlns:a16="http://schemas.microsoft.com/office/drawing/2014/main" id="{CF9CA1AB-E4D0-4D3D-EEA9-7B1EDD2E70DF}"/>
              </a:ext>
            </a:extLst>
          </p:cNvPr>
          <p:cNvSpPr/>
          <p:nvPr userDrawn="1"/>
        </p:nvSpPr>
        <p:spPr>
          <a:xfrm rot="5400000">
            <a:off x="708077" y="142407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pic>
        <p:nvPicPr>
          <p:cNvPr id="8" name="Imagen 7">
            <a:extLst>
              <a:ext uri="{FF2B5EF4-FFF2-40B4-BE49-F238E27FC236}">
                <a16:creationId xmlns:a16="http://schemas.microsoft.com/office/drawing/2014/main" id="{05AFA71D-0798-8D0A-A818-1D6C44208145}"/>
              </a:ext>
            </a:extLst>
          </p:cNvPr>
          <p:cNvPicPr>
            <a:picLocks noChangeAspect="1"/>
          </p:cNvPicPr>
          <p:nvPr userDrawn="1"/>
        </p:nvPicPr>
        <p:blipFill>
          <a:blip r:embed="rId2"/>
          <a:stretch>
            <a:fillRect/>
          </a:stretch>
        </p:blipFill>
        <p:spPr>
          <a:xfrm>
            <a:off x="9585146" y="1223143"/>
            <a:ext cx="2028909" cy="1566406"/>
          </a:xfrm>
          <a:prstGeom prst="rect">
            <a:avLst/>
          </a:prstGeom>
        </p:spPr>
      </p:pic>
    </p:spTree>
    <p:extLst>
      <p:ext uri="{BB962C8B-B14F-4D97-AF65-F5344CB8AC3E}">
        <p14:creationId xmlns:p14="http://schemas.microsoft.com/office/powerpoint/2010/main" val="1793673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IDO 1">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rgbClr val="3D3935"/>
              </a:solidFill>
            </a:endParaRPr>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dirty="0"/>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dirty="0"/>
              <a:t>Subtítulo</a:t>
            </a:r>
            <a:endParaRPr lang="es-CL" dirty="0"/>
          </a:p>
        </p:txBody>
      </p:sp>
      <p:pic>
        <p:nvPicPr>
          <p:cNvPr id="15" name="Imagen 14">
            <a:extLst>
              <a:ext uri="{FF2B5EF4-FFF2-40B4-BE49-F238E27FC236}">
                <a16:creationId xmlns:a16="http://schemas.microsoft.com/office/drawing/2014/main" id="{7FF15D88-F984-17E4-15AE-2BD100E17D9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90854" y="6303818"/>
            <a:ext cx="3828229" cy="172754"/>
          </a:xfrm>
          <a:prstGeom prst="rect">
            <a:avLst/>
          </a:prstGeom>
        </p:spPr>
      </p:pic>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8506691" y="1745385"/>
            <a:ext cx="3131815" cy="4281342"/>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dirty="0"/>
              <a:t>Lorem ipsum dolor sit amet, consectetur adipiscing elit. Duis egestas posuere mi. Cras ac ligula mi. Vestibulum eu tellus sed felis pretium ultricies vel vitae erat. Aliquam vel ex mi. Nunc ut ornare diam, pulvinar vulputate lectus. Aenean est dolor, finibus id nisi at, suscipit fermentum purus. Curabitur ultrices orci a massa pharetra iaculis. Etiam non augue efficitur.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5210831" y="1745385"/>
            <a:ext cx="2771775" cy="1898360"/>
          </a:xfrm>
          <a:prstGeom prst="rect">
            <a:avLst/>
          </a:prstGeom>
        </p:spPr>
        <p:txBody>
          <a:bodyPr/>
          <a:lstStyle>
            <a:lvl1pPr marL="0" indent="0">
              <a:buNone/>
              <a:defRPr sz="3200" b="1" i="1">
                <a:solidFill>
                  <a:schemeClr val="tx1">
                    <a:lumMod val="65000"/>
                    <a:lumOff val="35000"/>
                  </a:schemeClr>
                </a:solidFill>
                <a:latin typeface="Barlow Condensed SemiBold" pitchFamily="2" charset="77"/>
              </a:defRPr>
            </a:lvl1pPr>
          </a:lstStyle>
          <a:p>
            <a:pPr lvl="0"/>
            <a:r>
              <a:rPr lang="es-MX" dirty="0"/>
              <a:t>Lorem ipsum dolor sit amet, consectetur.</a:t>
            </a:r>
            <a:endParaRPr lang="es-CL" dirty="0"/>
          </a:p>
        </p:txBody>
      </p:sp>
      <p:pic>
        <p:nvPicPr>
          <p:cNvPr id="2" name="Imagen 1">
            <a:extLst>
              <a:ext uri="{FF2B5EF4-FFF2-40B4-BE49-F238E27FC236}">
                <a16:creationId xmlns:a16="http://schemas.microsoft.com/office/drawing/2014/main" id="{AAB85C36-3338-415A-8CBE-C17D213AD4CD}"/>
              </a:ext>
            </a:extLst>
          </p:cNvPr>
          <p:cNvPicPr>
            <a:picLocks noChangeAspect="1"/>
          </p:cNvPicPr>
          <p:nvPr userDrawn="1"/>
        </p:nvPicPr>
        <p:blipFill>
          <a:blip r:embed="rId4"/>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2592715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IDO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solidFill>
                  <a:srgbClr val="3D3935"/>
                </a:solidFill>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dirty="0"/>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dirty="0"/>
              <a:t>Subtítulo</a:t>
            </a:r>
            <a:endParaRPr lang="es-CL" dirty="0"/>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209820" y="2479820"/>
            <a:ext cx="3131815" cy="2734395"/>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dirty="0"/>
              <a:t>Lorem ipsum dolor sit amet, consectetur adipiscing elit. Duis egestas posuere mi. Cras ac ligula mi. Vestibulum eu tellus sed felis pretium ultricies vel vitae erat. Aliquam vel ex mi. Nunc ut ornare diam, pulvinar.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714705" y="2479820"/>
            <a:ext cx="2521982" cy="1898360"/>
          </a:xfrm>
          <a:prstGeom prst="rect">
            <a:avLst/>
          </a:prstGeom>
        </p:spPr>
        <p:txBody>
          <a:bodyPr/>
          <a:lstStyle>
            <a:lvl1pPr marL="0" indent="0">
              <a:buNone/>
              <a:defRPr sz="3200" b="1" i="1">
                <a:solidFill>
                  <a:srgbClr val="3D3935"/>
                </a:solidFill>
                <a:latin typeface="Barlow Condensed SemiBold" pitchFamily="2" charset="77"/>
              </a:defRPr>
            </a:lvl1pPr>
          </a:lstStyle>
          <a:p>
            <a:pPr lvl="0"/>
            <a:r>
              <a:rPr lang="es-MX" dirty="0"/>
              <a:t>Lorem ipsum dolor sit amet, consectetur.</a:t>
            </a:r>
            <a:endParaRPr lang="es-CL" dirty="0"/>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3"/>
          <a:stretch>
            <a:fillRect/>
          </a:stretch>
        </p:blipFill>
        <p:spPr>
          <a:xfrm>
            <a:off x="390854" y="6278018"/>
            <a:ext cx="3934403" cy="177546"/>
          </a:xfrm>
          <a:prstGeom prst="rect">
            <a:avLst/>
          </a:prstGeom>
        </p:spPr>
      </p:pic>
      <p:pic>
        <p:nvPicPr>
          <p:cNvPr id="7" name="Imagen 6">
            <a:extLst>
              <a:ext uri="{FF2B5EF4-FFF2-40B4-BE49-F238E27FC236}">
                <a16:creationId xmlns:a16="http://schemas.microsoft.com/office/drawing/2014/main" id="{DC2F9AD6-33BA-B421-480D-21D036AD8E6D}"/>
              </a:ext>
            </a:extLst>
          </p:cNvPr>
          <p:cNvPicPr>
            <a:picLocks noChangeAspect="1"/>
          </p:cNvPicPr>
          <p:nvPr userDrawn="1"/>
        </p:nvPicPr>
        <p:blipFill>
          <a:blip r:embed="rId4"/>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1658199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IDO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rgbClr val="3D3935"/>
              </a:solidFill>
            </a:endParaRPr>
          </a:p>
        </p:txBody>
      </p:sp>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solidFill>
                  <a:srgbClr val="3D3935"/>
                </a:solidFill>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dirty="0"/>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dirty="0"/>
              <a:t>Subtítulo</a:t>
            </a:r>
            <a:endParaRPr lang="es-CL" dirty="0"/>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209820" y="2479820"/>
            <a:ext cx="3131815" cy="2734395"/>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dirty="0"/>
              <a:t>Lorem ipsum dolor sit amet, consectetur adipiscing elit. Duis egestas posuere mi. Cras ac ligula mi. Vestibulum eu tellus sed felis pretium ultricies vel vitae erat. Aliquam vel ex mi. Nunc ut ornare diam, pulvinar.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714705" y="2479820"/>
            <a:ext cx="2521982" cy="1898360"/>
          </a:xfrm>
          <a:prstGeom prst="rect">
            <a:avLst/>
          </a:prstGeom>
        </p:spPr>
        <p:txBody>
          <a:bodyPr/>
          <a:lstStyle>
            <a:lvl1pPr marL="0" indent="0">
              <a:buNone/>
              <a:defRPr sz="3200" b="1" i="1">
                <a:solidFill>
                  <a:srgbClr val="3D3935"/>
                </a:solidFill>
                <a:latin typeface="Barlow Condensed SemiBold" pitchFamily="2" charset="77"/>
              </a:defRPr>
            </a:lvl1pPr>
          </a:lstStyle>
          <a:p>
            <a:pPr lvl="0"/>
            <a:r>
              <a:rPr lang="es-MX" dirty="0"/>
              <a:t>Lorem ipsum dolor sit amet, consectetur.</a:t>
            </a:r>
            <a:endParaRPr lang="es-CL" dirty="0"/>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3"/>
          <a:stretch>
            <a:fillRect/>
          </a:stretch>
        </p:blipFill>
        <p:spPr>
          <a:xfrm>
            <a:off x="390854" y="6278018"/>
            <a:ext cx="3934403" cy="177546"/>
          </a:xfrm>
          <a:prstGeom prst="rect">
            <a:avLst/>
          </a:prstGeom>
        </p:spPr>
      </p:pic>
      <p:pic>
        <p:nvPicPr>
          <p:cNvPr id="7" name="Imagen 6">
            <a:extLst>
              <a:ext uri="{FF2B5EF4-FFF2-40B4-BE49-F238E27FC236}">
                <a16:creationId xmlns:a16="http://schemas.microsoft.com/office/drawing/2014/main" id="{481ED0D2-48EB-88BE-53A8-CE7F6780642F}"/>
              </a:ext>
            </a:extLst>
          </p:cNvPr>
          <p:cNvPicPr>
            <a:picLocks noChangeAspect="1"/>
          </p:cNvPicPr>
          <p:nvPr userDrawn="1"/>
        </p:nvPicPr>
        <p:blipFill>
          <a:blip r:embed="rId4"/>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1889100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NTENIDO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F4FBA8DA-66F2-32F2-EC30-15EC5B6EE205}"/>
              </a:ext>
            </a:extLst>
          </p:cNvPr>
          <p:cNvSpPr/>
          <p:nvPr userDrawn="1"/>
        </p:nvSpPr>
        <p:spPr>
          <a:xfrm>
            <a:off x="-1" y="249380"/>
            <a:ext cx="10169237" cy="803564"/>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457E3D4C-296A-DFCA-3978-C765FD97C05C}"/>
              </a:ext>
            </a:extLst>
          </p:cNvPr>
          <p:cNvPicPr>
            <a:picLocks noChangeAspect="1"/>
          </p:cNvPicPr>
          <p:nvPr userDrawn="1"/>
        </p:nvPicPr>
        <p:blipFill>
          <a:blip r:embed="rId2"/>
          <a:stretch>
            <a:fillRect/>
          </a:stretch>
        </p:blipFill>
        <p:spPr>
          <a:xfrm>
            <a:off x="390854" y="0"/>
            <a:ext cx="647700" cy="990600"/>
          </a:xfrm>
          <a:prstGeom prst="rect">
            <a:avLst/>
          </a:prstGeom>
        </p:spPr>
      </p:pic>
      <p:sp>
        <p:nvSpPr>
          <p:cNvPr id="9" name="Marcador de texto 8">
            <a:extLst>
              <a:ext uri="{FF2B5EF4-FFF2-40B4-BE49-F238E27FC236}">
                <a16:creationId xmlns:a16="http://schemas.microsoft.com/office/drawing/2014/main" id="{4FDDE869-9ACD-23F9-D39F-026B2B7D2A3A}"/>
              </a:ext>
            </a:extLst>
          </p:cNvPr>
          <p:cNvSpPr>
            <a:spLocks noGrp="1"/>
          </p:cNvSpPr>
          <p:nvPr>
            <p:ph type="body" sz="quarter" idx="10" hasCustomPrompt="1"/>
          </p:nvPr>
        </p:nvSpPr>
        <p:spPr>
          <a:xfrm>
            <a:off x="1429410" y="318649"/>
            <a:ext cx="3814430" cy="651165"/>
          </a:xfrm>
          <a:prstGeom prst="rect">
            <a:avLst/>
          </a:prstGeom>
        </p:spPr>
        <p:txBody>
          <a:bodyPr/>
          <a:lstStyle>
            <a:lvl1pPr marL="0" indent="0">
              <a:buNone/>
              <a:defRPr sz="4000" b="1" i="0">
                <a:solidFill>
                  <a:srgbClr val="3D3935"/>
                </a:solidFill>
                <a:latin typeface="Barlow Condensed SemiBold" pitchFamily="2" charset="77"/>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CL" dirty="0"/>
              <a:t>Título Diapositiva  |</a:t>
            </a:r>
          </a:p>
        </p:txBody>
      </p:sp>
      <p:sp>
        <p:nvSpPr>
          <p:cNvPr id="13" name="Marcador de texto 12">
            <a:extLst>
              <a:ext uri="{FF2B5EF4-FFF2-40B4-BE49-F238E27FC236}">
                <a16:creationId xmlns:a16="http://schemas.microsoft.com/office/drawing/2014/main" id="{4DDFCA2B-C8AA-5DCB-3270-40C5CD6D7ECD}"/>
              </a:ext>
            </a:extLst>
          </p:cNvPr>
          <p:cNvSpPr>
            <a:spLocks noGrp="1"/>
          </p:cNvSpPr>
          <p:nvPr>
            <p:ph type="body" sz="quarter" idx="11" hasCustomPrompt="1"/>
          </p:nvPr>
        </p:nvSpPr>
        <p:spPr>
          <a:xfrm>
            <a:off x="5084618" y="319083"/>
            <a:ext cx="4856057" cy="699227"/>
          </a:xfrm>
          <a:prstGeom prst="rect">
            <a:avLst/>
          </a:prstGeom>
        </p:spPr>
        <p:txBody>
          <a:bodyPr anchor="ctr"/>
          <a:lstStyle>
            <a:lvl1pPr marL="0" indent="0">
              <a:buNone/>
              <a:defRPr sz="2400" b="0" i="0">
                <a:solidFill>
                  <a:srgbClr val="3D3935"/>
                </a:solidFill>
                <a:latin typeface="Barlow Condensed Medium" pitchFamily="2" charset="77"/>
              </a:defRPr>
            </a:lvl1pPr>
          </a:lstStyle>
          <a:p>
            <a:pPr lvl="0"/>
            <a:r>
              <a:rPr lang="es-MX" dirty="0"/>
              <a:t>Subtítulo</a:t>
            </a:r>
            <a:endParaRPr lang="es-CL" dirty="0"/>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209820" y="2479820"/>
            <a:ext cx="3131815" cy="2734395"/>
          </a:xfrm>
          <a:prstGeom prst="rect">
            <a:avLst/>
          </a:prstGeom>
        </p:spPr>
        <p:txBody>
          <a:bodyPr/>
          <a:lstStyle>
            <a:lvl1pPr marL="0" indent="0" algn="just">
              <a:lnSpc>
                <a:spcPct val="150000"/>
              </a:lnSpc>
              <a:buNone/>
              <a:defRPr sz="1400" b="0" i="0">
                <a:solidFill>
                  <a:schemeClr val="tx1">
                    <a:lumMod val="65000"/>
                    <a:lumOff val="35000"/>
                  </a:schemeClr>
                </a:solidFill>
                <a:latin typeface="Montserrat" pitchFamily="2" charset="77"/>
              </a:defRPr>
            </a:lvl1pPr>
          </a:lstStyle>
          <a:p>
            <a:pPr lvl="0"/>
            <a:r>
              <a:rPr lang="es-MX" dirty="0"/>
              <a:t>Lorem ipsum dolor sit amet, consectetur adipiscing elit. Duis egestas posuere mi. Cras ac ligula mi. Vestibulum eu tellus sed felis pretium ultricies vel vitae erat. Aliquam vel ex mi. Nunc ut ornare diam, pulvinar.</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714705" y="2479820"/>
            <a:ext cx="2521982" cy="1898360"/>
          </a:xfrm>
          <a:prstGeom prst="rect">
            <a:avLst/>
          </a:prstGeom>
        </p:spPr>
        <p:txBody>
          <a:bodyPr/>
          <a:lstStyle>
            <a:lvl1pPr marL="0" indent="0">
              <a:buNone/>
              <a:defRPr sz="3200" b="1" i="1">
                <a:solidFill>
                  <a:schemeClr val="bg1"/>
                </a:solidFill>
                <a:latin typeface="Barlow Condensed SemiBold" pitchFamily="2" charset="77"/>
              </a:defRPr>
            </a:lvl1pPr>
          </a:lstStyle>
          <a:p>
            <a:pPr lvl="0"/>
            <a:r>
              <a:rPr lang="es-MX" dirty="0"/>
              <a:t>Lorem ipsum dolor sit amet, consectetur.</a:t>
            </a:r>
            <a:endParaRPr lang="es-CL" dirty="0"/>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3"/>
          <a:stretch>
            <a:fillRect/>
          </a:stretch>
        </p:blipFill>
        <p:spPr>
          <a:xfrm>
            <a:off x="390854" y="6278018"/>
            <a:ext cx="3934403" cy="177546"/>
          </a:xfrm>
          <a:prstGeom prst="rect">
            <a:avLst/>
          </a:prstGeom>
        </p:spPr>
      </p:pic>
      <p:pic>
        <p:nvPicPr>
          <p:cNvPr id="7" name="Imagen 6">
            <a:extLst>
              <a:ext uri="{FF2B5EF4-FFF2-40B4-BE49-F238E27FC236}">
                <a16:creationId xmlns:a16="http://schemas.microsoft.com/office/drawing/2014/main" id="{2E3FE92E-6CD5-46A2-32E9-E32B1778FAFB}"/>
              </a:ext>
            </a:extLst>
          </p:cNvPr>
          <p:cNvPicPr>
            <a:picLocks noChangeAspect="1"/>
          </p:cNvPicPr>
          <p:nvPr userDrawn="1"/>
        </p:nvPicPr>
        <p:blipFill>
          <a:blip r:embed="rId4"/>
          <a:stretch>
            <a:fillRect/>
          </a:stretch>
        </p:blipFill>
        <p:spPr>
          <a:xfrm>
            <a:off x="10574770" y="211267"/>
            <a:ext cx="1075765" cy="870858"/>
          </a:xfrm>
          <a:prstGeom prst="rect">
            <a:avLst/>
          </a:prstGeom>
        </p:spPr>
      </p:pic>
    </p:spTree>
    <p:extLst>
      <p:ext uri="{BB962C8B-B14F-4D97-AF65-F5344CB8AC3E}">
        <p14:creationId xmlns:p14="http://schemas.microsoft.com/office/powerpoint/2010/main" val="1165898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7FD8085-C44F-F2CF-E76B-DB813178781E}"/>
              </a:ext>
            </a:extLst>
          </p:cNvPr>
          <p:cNvSpPr/>
          <p:nvPr userDrawn="1"/>
        </p:nvSpPr>
        <p:spPr>
          <a:xfrm>
            <a:off x="0" y="-1"/>
            <a:ext cx="12192000" cy="6858000"/>
          </a:xfrm>
          <a:prstGeom prst="rect">
            <a:avLst/>
          </a:pr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361E7A51-7D9E-262B-0EDF-5F56738758CC}"/>
              </a:ext>
            </a:extLst>
          </p:cNvPr>
          <p:cNvSpPr>
            <a:spLocks noGrp="1"/>
          </p:cNvSpPr>
          <p:nvPr>
            <p:ph type="title" hasCustomPrompt="1"/>
          </p:nvPr>
        </p:nvSpPr>
        <p:spPr>
          <a:xfrm>
            <a:off x="1297213" y="2377848"/>
            <a:ext cx="9684657" cy="2102303"/>
          </a:xfrm>
          <a:prstGeom prst="rect">
            <a:avLst/>
          </a:prstGeom>
        </p:spPr>
        <p:txBody>
          <a:bodyPr/>
          <a:lstStyle>
            <a:lvl1pPr marL="0" marR="0" indent="0" algn="ctr" defTabSz="914400" rtl="0" eaLnBrk="1" fontAlgn="auto" latinLnBrk="0" hangingPunct="1">
              <a:lnSpc>
                <a:spcPct val="90000"/>
              </a:lnSpc>
              <a:spcBef>
                <a:spcPct val="0"/>
              </a:spcBef>
              <a:spcAft>
                <a:spcPts val="0"/>
              </a:spcAft>
              <a:buClrTx/>
              <a:buSzTx/>
              <a:buFontTx/>
              <a:buNone/>
              <a:tabLst/>
              <a:defRPr sz="2800" b="0" i="1">
                <a:solidFill>
                  <a:schemeClr val="bg1"/>
                </a:solidFill>
                <a:latin typeface="Montserrat" pitchFamily="2" charset="77"/>
              </a:defRPr>
            </a:lvl1pPr>
          </a:lstStyle>
          <a:p>
            <a:r>
              <a:rPr lang="es-MX" dirty="0"/>
              <a:t>Lorem ipsum dolor sit amet, consectetur adipiscing elit. Duis egestas posuere mi. Cras ac ligula mi. Vestibulum eu tellus sed felis pretium ultricies vel vitae erat. Aliquam vel ex mi. Nunc ut ornare diam, pulvinar vulputate lectus</a:t>
            </a:r>
            <a:endParaRPr lang="es-CL" dirty="0"/>
          </a:p>
        </p:txBody>
      </p:sp>
      <p:sp>
        <p:nvSpPr>
          <p:cNvPr id="7" name="Marcador de texto 6">
            <a:extLst>
              <a:ext uri="{FF2B5EF4-FFF2-40B4-BE49-F238E27FC236}">
                <a16:creationId xmlns:a16="http://schemas.microsoft.com/office/drawing/2014/main" id="{BE330284-FE8D-2A55-DC08-2DC5112D755E}"/>
              </a:ext>
            </a:extLst>
          </p:cNvPr>
          <p:cNvSpPr>
            <a:spLocks noGrp="1"/>
          </p:cNvSpPr>
          <p:nvPr>
            <p:ph type="body" sz="quarter" idx="11" hasCustomPrompt="1"/>
          </p:nvPr>
        </p:nvSpPr>
        <p:spPr>
          <a:xfrm>
            <a:off x="7933644" y="4978398"/>
            <a:ext cx="3048226" cy="457200"/>
          </a:xfrm>
          <a:prstGeom prst="rect">
            <a:avLst/>
          </a:prstGeom>
        </p:spPr>
        <p:txBody>
          <a:bodyPr/>
          <a:lstStyle>
            <a:lvl1pPr marL="0" indent="0" algn="r">
              <a:buNone/>
              <a:defRPr sz="1800" b="1" i="0">
                <a:solidFill>
                  <a:schemeClr val="bg1"/>
                </a:solidFill>
                <a:latin typeface="Montserrat" pitchFamily="2" charset="77"/>
              </a:defRPr>
            </a:lvl1pPr>
          </a:lstStyle>
          <a:p>
            <a:pPr lvl="0"/>
            <a:r>
              <a:rPr lang="es-CL" dirty="0"/>
              <a:t>Juan Pérez P.</a:t>
            </a:r>
          </a:p>
        </p:txBody>
      </p:sp>
      <p:pic>
        <p:nvPicPr>
          <p:cNvPr id="9" name="Gráfico 8" descr="Closed quotation mark con relleno sólido">
            <a:extLst>
              <a:ext uri="{FF2B5EF4-FFF2-40B4-BE49-F238E27FC236}">
                <a16:creationId xmlns:a16="http://schemas.microsoft.com/office/drawing/2014/main" id="{8902172E-2456-130E-3568-788AC414A6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55599" y="1222829"/>
            <a:ext cx="1313543" cy="1313543"/>
          </a:xfrm>
          <a:prstGeom prst="rect">
            <a:avLst/>
          </a:prstGeom>
        </p:spPr>
      </p:pic>
    </p:spTree>
    <p:extLst>
      <p:ext uri="{BB962C8B-B14F-4D97-AF65-F5344CB8AC3E}">
        <p14:creationId xmlns:p14="http://schemas.microsoft.com/office/powerpoint/2010/main" val="455638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IDO 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7FD8085-C44F-F2CF-E76B-DB813178781E}"/>
              </a:ext>
            </a:extLst>
          </p:cNvPr>
          <p:cNvSpPr/>
          <p:nvPr userDrawn="1"/>
        </p:nvSpPr>
        <p:spPr>
          <a:xfrm>
            <a:off x="0" y="-1"/>
            <a:ext cx="12192000"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361E7A51-7D9E-262B-0EDF-5F56738758CC}"/>
              </a:ext>
            </a:extLst>
          </p:cNvPr>
          <p:cNvSpPr>
            <a:spLocks noGrp="1"/>
          </p:cNvSpPr>
          <p:nvPr>
            <p:ph type="title" hasCustomPrompt="1"/>
          </p:nvPr>
        </p:nvSpPr>
        <p:spPr>
          <a:xfrm>
            <a:off x="1297213" y="2377848"/>
            <a:ext cx="9684657" cy="2102303"/>
          </a:xfrm>
          <a:prstGeom prst="rect">
            <a:avLst/>
          </a:prstGeom>
        </p:spPr>
        <p:txBody>
          <a:bodyPr/>
          <a:lstStyle>
            <a:lvl1pPr marL="0" marR="0" indent="0" algn="ctr" defTabSz="914400" rtl="0" eaLnBrk="1" fontAlgn="auto" latinLnBrk="0" hangingPunct="1">
              <a:lnSpc>
                <a:spcPct val="90000"/>
              </a:lnSpc>
              <a:spcBef>
                <a:spcPct val="0"/>
              </a:spcBef>
              <a:spcAft>
                <a:spcPts val="0"/>
              </a:spcAft>
              <a:buClrTx/>
              <a:buSzTx/>
              <a:buFontTx/>
              <a:buNone/>
              <a:tabLst/>
              <a:defRPr sz="2800" b="0" i="1">
                <a:solidFill>
                  <a:srgbClr val="3D3935"/>
                </a:solidFill>
                <a:latin typeface="Montserrat" pitchFamily="2" charset="77"/>
              </a:defRPr>
            </a:lvl1pPr>
          </a:lstStyle>
          <a:p>
            <a:r>
              <a:rPr lang="es-MX" dirty="0"/>
              <a:t>Lorem ipsum dolor sit amet, consectetur adipiscing elit. Duis egestas posuere mi. Cras ac ligula mi. Vestibulum eu tellus sed felis pretium ultricies vel vitae erat. Aliquam vel ex mi. Nunc ut ornare diam, pulvinar vulputate lectus</a:t>
            </a:r>
            <a:endParaRPr lang="es-CL" dirty="0"/>
          </a:p>
        </p:txBody>
      </p:sp>
      <p:sp>
        <p:nvSpPr>
          <p:cNvPr id="7" name="Marcador de texto 6">
            <a:extLst>
              <a:ext uri="{FF2B5EF4-FFF2-40B4-BE49-F238E27FC236}">
                <a16:creationId xmlns:a16="http://schemas.microsoft.com/office/drawing/2014/main" id="{BE330284-FE8D-2A55-DC08-2DC5112D755E}"/>
              </a:ext>
            </a:extLst>
          </p:cNvPr>
          <p:cNvSpPr>
            <a:spLocks noGrp="1"/>
          </p:cNvSpPr>
          <p:nvPr>
            <p:ph type="body" sz="quarter" idx="11" hasCustomPrompt="1"/>
          </p:nvPr>
        </p:nvSpPr>
        <p:spPr>
          <a:xfrm>
            <a:off x="7933644" y="4978398"/>
            <a:ext cx="3048226" cy="457200"/>
          </a:xfrm>
          <a:prstGeom prst="rect">
            <a:avLst/>
          </a:prstGeom>
        </p:spPr>
        <p:txBody>
          <a:bodyPr/>
          <a:lstStyle>
            <a:lvl1pPr marL="0" indent="0" algn="r">
              <a:buNone/>
              <a:defRPr sz="1800" b="1" i="0">
                <a:solidFill>
                  <a:srgbClr val="3D3935"/>
                </a:solidFill>
                <a:latin typeface="Montserrat" pitchFamily="2" charset="77"/>
              </a:defRPr>
            </a:lvl1pPr>
          </a:lstStyle>
          <a:p>
            <a:pPr lvl="0"/>
            <a:r>
              <a:rPr lang="es-CL" dirty="0"/>
              <a:t>Juan Pérez P.</a:t>
            </a:r>
          </a:p>
        </p:txBody>
      </p:sp>
      <p:pic>
        <p:nvPicPr>
          <p:cNvPr id="9" name="Gráfico 8" descr="Closed quotation mark con relleno sólido">
            <a:extLst>
              <a:ext uri="{FF2B5EF4-FFF2-40B4-BE49-F238E27FC236}">
                <a16:creationId xmlns:a16="http://schemas.microsoft.com/office/drawing/2014/main" id="{8902172E-2456-130E-3568-788AC414A6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55599" y="1222829"/>
            <a:ext cx="1313543" cy="1313543"/>
          </a:xfrm>
          <a:prstGeom prst="rect">
            <a:avLst/>
          </a:prstGeom>
        </p:spPr>
      </p:pic>
    </p:spTree>
    <p:extLst>
      <p:ext uri="{BB962C8B-B14F-4D97-AF65-F5344CB8AC3E}">
        <p14:creationId xmlns:p14="http://schemas.microsoft.com/office/powerpoint/2010/main" val="1158730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NTENIDO 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7FD8085-C44F-F2CF-E76B-DB813178781E}"/>
              </a:ext>
            </a:extLst>
          </p:cNvPr>
          <p:cNvSpPr/>
          <p:nvPr userDrawn="1"/>
        </p:nvSpPr>
        <p:spPr>
          <a:xfrm>
            <a:off x="0" y="-1"/>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 name="Título 1">
            <a:extLst>
              <a:ext uri="{FF2B5EF4-FFF2-40B4-BE49-F238E27FC236}">
                <a16:creationId xmlns:a16="http://schemas.microsoft.com/office/drawing/2014/main" id="{361E7A51-7D9E-262B-0EDF-5F56738758CC}"/>
              </a:ext>
            </a:extLst>
          </p:cNvPr>
          <p:cNvSpPr>
            <a:spLocks noGrp="1"/>
          </p:cNvSpPr>
          <p:nvPr>
            <p:ph type="title" hasCustomPrompt="1"/>
          </p:nvPr>
        </p:nvSpPr>
        <p:spPr>
          <a:xfrm>
            <a:off x="1297213" y="2377848"/>
            <a:ext cx="9684657" cy="2102303"/>
          </a:xfrm>
          <a:prstGeom prst="rect">
            <a:avLst/>
          </a:prstGeom>
        </p:spPr>
        <p:txBody>
          <a:bodyPr/>
          <a:lstStyle>
            <a:lvl1pPr marL="0" marR="0" indent="0" algn="ctr" defTabSz="914400" rtl="0" eaLnBrk="1" fontAlgn="auto" latinLnBrk="0" hangingPunct="1">
              <a:lnSpc>
                <a:spcPct val="90000"/>
              </a:lnSpc>
              <a:spcBef>
                <a:spcPct val="0"/>
              </a:spcBef>
              <a:spcAft>
                <a:spcPts val="0"/>
              </a:spcAft>
              <a:buClrTx/>
              <a:buSzTx/>
              <a:buFontTx/>
              <a:buNone/>
              <a:tabLst/>
              <a:defRPr sz="2800" b="0" i="1">
                <a:solidFill>
                  <a:schemeClr val="bg1"/>
                </a:solidFill>
                <a:latin typeface="Montserrat" pitchFamily="2" charset="77"/>
              </a:defRPr>
            </a:lvl1pPr>
          </a:lstStyle>
          <a:p>
            <a:r>
              <a:rPr lang="es-MX" dirty="0"/>
              <a:t>Lorem ipsum dolor sit amet, consectetur adipiscing elit. Duis egestas posuere mi. Cras ac ligula mi. Vestibulum eu tellus sed felis pretium ultricies vel vitae erat. Aliquam vel ex mi. Nunc ut ornare diam, pulvinar vulputate lectus</a:t>
            </a:r>
            <a:endParaRPr lang="es-CL" dirty="0"/>
          </a:p>
        </p:txBody>
      </p:sp>
      <p:sp>
        <p:nvSpPr>
          <p:cNvPr id="7" name="Marcador de texto 6">
            <a:extLst>
              <a:ext uri="{FF2B5EF4-FFF2-40B4-BE49-F238E27FC236}">
                <a16:creationId xmlns:a16="http://schemas.microsoft.com/office/drawing/2014/main" id="{BE330284-FE8D-2A55-DC08-2DC5112D755E}"/>
              </a:ext>
            </a:extLst>
          </p:cNvPr>
          <p:cNvSpPr>
            <a:spLocks noGrp="1"/>
          </p:cNvSpPr>
          <p:nvPr>
            <p:ph type="body" sz="quarter" idx="11" hasCustomPrompt="1"/>
          </p:nvPr>
        </p:nvSpPr>
        <p:spPr>
          <a:xfrm>
            <a:off x="7933644" y="4978398"/>
            <a:ext cx="3048226" cy="457200"/>
          </a:xfrm>
          <a:prstGeom prst="rect">
            <a:avLst/>
          </a:prstGeom>
        </p:spPr>
        <p:txBody>
          <a:bodyPr/>
          <a:lstStyle>
            <a:lvl1pPr marL="0" indent="0" algn="r">
              <a:buNone/>
              <a:defRPr sz="1800" b="1" i="0">
                <a:solidFill>
                  <a:schemeClr val="bg1"/>
                </a:solidFill>
                <a:latin typeface="Montserrat" pitchFamily="2" charset="77"/>
              </a:defRPr>
            </a:lvl1pPr>
          </a:lstStyle>
          <a:p>
            <a:pPr lvl="0"/>
            <a:r>
              <a:rPr lang="es-CL" dirty="0"/>
              <a:t>Juan Pérez P.</a:t>
            </a:r>
          </a:p>
        </p:txBody>
      </p:sp>
      <p:pic>
        <p:nvPicPr>
          <p:cNvPr id="9" name="Gráfico 8" descr="Closed quotation mark con relleno sólido">
            <a:extLst>
              <a:ext uri="{FF2B5EF4-FFF2-40B4-BE49-F238E27FC236}">
                <a16:creationId xmlns:a16="http://schemas.microsoft.com/office/drawing/2014/main" id="{8902172E-2456-130E-3568-788AC414A68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355599" y="1222829"/>
            <a:ext cx="1313543" cy="1313543"/>
          </a:xfrm>
          <a:prstGeom prst="rect">
            <a:avLst/>
          </a:prstGeom>
        </p:spPr>
      </p:pic>
    </p:spTree>
    <p:extLst>
      <p:ext uri="{BB962C8B-B14F-4D97-AF65-F5344CB8AC3E}">
        <p14:creationId xmlns:p14="http://schemas.microsoft.com/office/powerpoint/2010/main" val="2993594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PARADOR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12206514" cy="6858000"/>
          </a:xfrm>
          <a:prstGeom prst="rect">
            <a:avLst/>
          </a:prstGeom>
          <a:solidFill>
            <a:srgbClr val="D4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677105" y="2338306"/>
            <a:ext cx="2521982" cy="1898360"/>
          </a:xfrm>
          <a:prstGeom prst="rect">
            <a:avLst/>
          </a:prstGeom>
        </p:spPr>
        <p:txBody>
          <a:bodyPr anchor="ctr"/>
          <a:lstStyle>
            <a:lvl1pPr marL="0" indent="0" algn="ctr">
              <a:buNone/>
              <a:defRPr sz="3200" b="1" i="1">
                <a:solidFill>
                  <a:schemeClr val="bg1"/>
                </a:solidFill>
                <a:latin typeface="Barlow Condensed SemiBold" pitchFamily="2" charset="77"/>
              </a:defRPr>
            </a:lvl1pPr>
          </a:lstStyle>
          <a:p>
            <a:pPr lvl="0"/>
            <a:r>
              <a:rPr lang="es-MX" dirty="0"/>
              <a:t>Lorem ipsum dolor sit amet, consectetur.</a:t>
            </a:r>
            <a:endParaRPr lang="es-CL" dirty="0"/>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2"/>
          <a:stretch>
            <a:fillRect/>
          </a:stretch>
        </p:blipFill>
        <p:spPr>
          <a:xfrm>
            <a:off x="390854" y="6278018"/>
            <a:ext cx="3934403" cy="177546"/>
          </a:xfrm>
          <a:prstGeom prst="rect">
            <a:avLst/>
          </a:prstGeom>
        </p:spPr>
      </p:pic>
      <p:sp>
        <p:nvSpPr>
          <p:cNvPr id="7" name="Rectángulo 6">
            <a:extLst>
              <a:ext uri="{FF2B5EF4-FFF2-40B4-BE49-F238E27FC236}">
                <a16:creationId xmlns:a16="http://schemas.microsoft.com/office/drawing/2014/main" id="{EB77429D-E842-5E20-F779-7858F184D455}"/>
              </a:ext>
            </a:extLst>
          </p:cNvPr>
          <p:cNvSpPr/>
          <p:nvPr userDrawn="1"/>
        </p:nvSpPr>
        <p:spPr>
          <a:xfrm>
            <a:off x="3702896" y="1785258"/>
            <a:ext cx="4470400" cy="300445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F98B8E39-7503-51D4-548C-869B0C45BFD3}"/>
              </a:ext>
            </a:extLst>
          </p:cNvPr>
          <p:cNvPicPr>
            <a:picLocks noChangeAspect="1"/>
          </p:cNvPicPr>
          <p:nvPr userDrawn="1"/>
        </p:nvPicPr>
        <p:blipFill>
          <a:blip r:embed="rId3"/>
          <a:stretch>
            <a:fillRect/>
          </a:stretch>
        </p:blipFill>
        <p:spPr>
          <a:xfrm>
            <a:off x="10581025" y="208298"/>
            <a:ext cx="1198599" cy="970295"/>
          </a:xfrm>
          <a:prstGeom prst="rect">
            <a:avLst/>
          </a:prstGeom>
        </p:spPr>
      </p:pic>
    </p:spTree>
    <p:extLst>
      <p:ext uri="{BB962C8B-B14F-4D97-AF65-F5344CB8AC3E}">
        <p14:creationId xmlns:p14="http://schemas.microsoft.com/office/powerpoint/2010/main" val="1300563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SEPARADOR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12206514" cy="6858000"/>
          </a:xfrm>
          <a:prstGeom prst="rect">
            <a:avLst/>
          </a:prstGeom>
          <a:solidFill>
            <a:schemeClr val="bg1">
              <a:lumMod val="85000"/>
            </a:schemeClr>
          </a:solidFill>
          <a:ln>
            <a:solidFill>
              <a:srgbClr val="3D39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677105" y="2338306"/>
            <a:ext cx="2521982" cy="1898360"/>
          </a:xfrm>
          <a:prstGeom prst="rect">
            <a:avLst/>
          </a:prstGeom>
        </p:spPr>
        <p:txBody>
          <a:bodyPr anchor="ctr"/>
          <a:lstStyle>
            <a:lvl1pPr marL="0" indent="0" algn="ctr">
              <a:buNone/>
              <a:defRPr sz="3200" b="1" i="1">
                <a:solidFill>
                  <a:srgbClr val="3D3935"/>
                </a:solidFill>
                <a:latin typeface="Barlow Condensed SemiBold" pitchFamily="2" charset="77"/>
              </a:defRPr>
            </a:lvl1pPr>
          </a:lstStyle>
          <a:p>
            <a:pPr lvl="0"/>
            <a:r>
              <a:rPr lang="es-MX" dirty="0"/>
              <a:t>Lorem ipsum dolor sit amet, consectetur.</a:t>
            </a:r>
            <a:endParaRPr lang="es-CL" dirty="0"/>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2"/>
          <a:stretch>
            <a:fillRect/>
          </a:stretch>
        </p:blipFill>
        <p:spPr>
          <a:xfrm>
            <a:off x="390854" y="6278018"/>
            <a:ext cx="3934403" cy="177546"/>
          </a:xfrm>
          <a:prstGeom prst="rect">
            <a:avLst/>
          </a:prstGeom>
          <a:solidFill>
            <a:srgbClr val="E1251B"/>
          </a:solidFill>
        </p:spPr>
      </p:pic>
      <p:sp>
        <p:nvSpPr>
          <p:cNvPr id="7" name="Rectángulo 6">
            <a:extLst>
              <a:ext uri="{FF2B5EF4-FFF2-40B4-BE49-F238E27FC236}">
                <a16:creationId xmlns:a16="http://schemas.microsoft.com/office/drawing/2014/main" id="{EB77429D-E842-5E20-F779-7858F184D455}"/>
              </a:ext>
            </a:extLst>
          </p:cNvPr>
          <p:cNvSpPr/>
          <p:nvPr userDrawn="1"/>
        </p:nvSpPr>
        <p:spPr>
          <a:xfrm>
            <a:off x="3702896" y="1785258"/>
            <a:ext cx="4470400" cy="3004457"/>
          </a:xfrm>
          <a:prstGeom prst="rect">
            <a:avLst/>
          </a:prstGeom>
          <a:noFill/>
          <a:ln w="57150">
            <a:solidFill>
              <a:srgbClr val="E125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2A682216-3BAA-4396-8704-1611B871226E}"/>
              </a:ext>
            </a:extLst>
          </p:cNvPr>
          <p:cNvPicPr>
            <a:picLocks noChangeAspect="1"/>
          </p:cNvPicPr>
          <p:nvPr userDrawn="1"/>
        </p:nvPicPr>
        <p:blipFill>
          <a:blip r:embed="rId3"/>
          <a:stretch>
            <a:fillRect/>
          </a:stretch>
        </p:blipFill>
        <p:spPr>
          <a:xfrm>
            <a:off x="10439670" y="211266"/>
            <a:ext cx="1210866" cy="980225"/>
          </a:xfrm>
          <a:prstGeom prst="rect">
            <a:avLst/>
          </a:prstGeom>
        </p:spPr>
      </p:pic>
    </p:spTree>
    <p:extLst>
      <p:ext uri="{BB962C8B-B14F-4D97-AF65-F5344CB8AC3E}">
        <p14:creationId xmlns:p14="http://schemas.microsoft.com/office/powerpoint/2010/main" val="4189900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PARADOR 1">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0" y="0"/>
            <a:ext cx="12206514"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677105" y="2338306"/>
            <a:ext cx="2521982" cy="1898360"/>
          </a:xfrm>
          <a:prstGeom prst="rect">
            <a:avLst/>
          </a:prstGeom>
        </p:spPr>
        <p:txBody>
          <a:bodyPr anchor="ctr"/>
          <a:lstStyle>
            <a:lvl1pPr marL="0" indent="0" algn="ctr">
              <a:buNone/>
              <a:defRPr sz="3200" b="1" i="1">
                <a:solidFill>
                  <a:schemeClr val="bg1"/>
                </a:solidFill>
                <a:latin typeface="Barlow Condensed SemiBold" pitchFamily="2" charset="77"/>
              </a:defRPr>
            </a:lvl1pPr>
          </a:lstStyle>
          <a:p>
            <a:pPr lvl="0"/>
            <a:r>
              <a:rPr lang="es-MX" dirty="0"/>
              <a:t>Lorem ipsum dolor sit amet, consectetur.</a:t>
            </a:r>
            <a:endParaRPr lang="es-CL" dirty="0"/>
          </a:p>
        </p:txBody>
      </p:sp>
      <p:pic>
        <p:nvPicPr>
          <p:cNvPr id="6" name="Imagen 5">
            <a:extLst>
              <a:ext uri="{FF2B5EF4-FFF2-40B4-BE49-F238E27FC236}">
                <a16:creationId xmlns:a16="http://schemas.microsoft.com/office/drawing/2014/main" id="{B2B74515-CFF7-9B99-CC23-FF2D3D1B8CE2}"/>
              </a:ext>
            </a:extLst>
          </p:cNvPr>
          <p:cNvPicPr>
            <a:picLocks noChangeAspect="1"/>
          </p:cNvPicPr>
          <p:nvPr userDrawn="1"/>
        </p:nvPicPr>
        <p:blipFill>
          <a:blip r:embed="rId2"/>
          <a:stretch>
            <a:fillRect/>
          </a:stretch>
        </p:blipFill>
        <p:spPr>
          <a:xfrm>
            <a:off x="390854" y="6278018"/>
            <a:ext cx="3934403" cy="177546"/>
          </a:xfrm>
          <a:prstGeom prst="rect">
            <a:avLst/>
          </a:prstGeom>
        </p:spPr>
      </p:pic>
      <p:sp>
        <p:nvSpPr>
          <p:cNvPr id="7" name="Rectángulo 6">
            <a:extLst>
              <a:ext uri="{FF2B5EF4-FFF2-40B4-BE49-F238E27FC236}">
                <a16:creationId xmlns:a16="http://schemas.microsoft.com/office/drawing/2014/main" id="{EB77429D-E842-5E20-F779-7858F184D455}"/>
              </a:ext>
            </a:extLst>
          </p:cNvPr>
          <p:cNvSpPr/>
          <p:nvPr userDrawn="1"/>
        </p:nvSpPr>
        <p:spPr>
          <a:xfrm>
            <a:off x="3702896" y="1785258"/>
            <a:ext cx="4470400" cy="300445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180AB544-4588-8EAA-FB2F-D5D16E9D1FF7}"/>
              </a:ext>
            </a:extLst>
          </p:cNvPr>
          <p:cNvPicPr>
            <a:picLocks noChangeAspect="1"/>
          </p:cNvPicPr>
          <p:nvPr userDrawn="1"/>
        </p:nvPicPr>
        <p:blipFill>
          <a:blip r:embed="rId3"/>
          <a:stretch>
            <a:fillRect/>
          </a:stretch>
        </p:blipFill>
        <p:spPr>
          <a:xfrm>
            <a:off x="10581025" y="208298"/>
            <a:ext cx="1198599" cy="970295"/>
          </a:xfrm>
          <a:prstGeom prst="rect">
            <a:avLst/>
          </a:prstGeom>
        </p:spPr>
      </p:pic>
    </p:spTree>
    <p:extLst>
      <p:ext uri="{BB962C8B-B14F-4D97-AF65-F5344CB8AC3E}">
        <p14:creationId xmlns:p14="http://schemas.microsoft.com/office/powerpoint/2010/main" val="10079320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IERRE">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529135" y="2479820"/>
            <a:ext cx="6792009" cy="1337436"/>
          </a:xfrm>
          <a:prstGeom prst="rect">
            <a:avLst/>
          </a:prstGeom>
        </p:spPr>
        <p:txBody>
          <a:bodyPr/>
          <a:lstStyle>
            <a:lvl1pPr marL="0" indent="0" algn="just">
              <a:lnSpc>
                <a:spcPct val="150000"/>
              </a:lnSpc>
              <a:buNone/>
              <a:defRPr sz="5400" b="1" i="1">
                <a:solidFill>
                  <a:schemeClr val="tx1">
                    <a:lumMod val="65000"/>
                    <a:lumOff val="35000"/>
                  </a:schemeClr>
                </a:solidFill>
                <a:latin typeface="Montserrat SemiBold" pitchFamily="2" charset="77"/>
              </a:defRPr>
            </a:lvl1pPr>
          </a:lstStyle>
          <a:p>
            <a:pPr lvl="0"/>
            <a:r>
              <a:rPr lang="es-MX" dirty="0"/>
              <a:t>¡Hasta la Próxima!</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79309" y="2479820"/>
            <a:ext cx="2855809" cy="1337436"/>
          </a:xfrm>
          <a:prstGeom prst="rect">
            <a:avLst/>
          </a:prstGeom>
        </p:spPr>
        <p:txBody>
          <a:bodyPr/>
          <a:lstStyle>
            <a:lvl1pPr marL="0" indent="0">
              <a:buNone/>
              <a:defRPr sz="3200" b="1" i="1">
                <a:solidFill>
                  <a:schemeClr val="bg1"/>
                </a:solidFill>
                <a:latin typeface="Barlow Condensed SemiBold" pitchFamily="2" charset="77"/>
              </a:defRPr>
            </a:lvl1pPr>
          </a:lstStyle>
          <a:p>
            <a:pPr lvl="0"/>
            <a:r>
              <a:rPr lang="es-MX" dirty="0"/>
              <a:t>Contacto:</a:t>
            </a:r>
          </a:p>
          <a:p>
            <a:pPr lvl="0"/>
            <a:r>
              <a:rPr lang="es-MX" dirty="0"/>
              <a:t>lorem@ipsum.com</a:t>
            </a:r>
            <a:endParaRPr lang="es-CL" dirty="0"/>
          </a:p>
        </p:txBody>
      </p:sp>
      <p:sp>
        <p:nvSpPr>
          <p:cNvPr id="5" name="Flecha: pentágono 8">
            <a:extLst>
              <a:ext uri="{FF2B5EF4-FFF2-40B4-BE49-F238E27FC236}">
                <a16:creationId xmlns:a16="http://schemas.microsoft.com/office/drawing/2014/main" id="{E450C363-9B4B-A2B5-F085-23E27198F97A}"/>
              </a:ext>
            </a:extLst>
          </p:cNvPr>
          <p:cNvSpPr/>
          <p:nvPr userDrawn="1"/>
        </p:nvSpPr>
        <p:spPr>
          <a:xfrm rot="5400000">
            <a:off x="349190" y="13011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spTree>
    <p:extLst>
      <p:ext uri="{BB962C8B-B14F-4D97-AF65-F5344CB8AC3E}">
        <p14:creationId xmlns:p14="http://schemas.microsoft.com/office/powerpoint/2010/main" val="865563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IERRE">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529135" y="2479820"/>
            <a:ext cx="6792009" cy="1337436"/>
          </a:xfrm>
          <a:prstGeom prst="rect">
            <a:avLst/>
          </a:prstGeom>
        </p:spPr>
        <p:txBody>
          <a:bodyPr/>
          <a:lstStyle>
            <a:lvl1pPr marL="0" indent="0" algn="just">
              <a:lnSpc>
                <a:spcPct val="150000"/>
              </a:lnSpc>
              <a:buNone/>
              <a:defRPr sz="5400" b="1" i="1">
                <a:solidFill>
                  <a:schemeClr val="tx1">
                    <a:lumMod val="65000"/>
                    <a:lumOff val="35000"/>
                  </a:schemeClr>
                </a:solidFill>
                <a:latin typeface="Montserrat SemiBold" pitchFamily="2" charset="77"/>
              </a:defRPr>
            </a:lvl1pPr>
          </a:lstStyle>
          <a:p>
            <a:pPr lvl="0"/>
            <a:r>
              <a:rPr lang="es-MX" dirty="0"/>
              <a:t>¡Hasta la Próxima!</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79309" y="2479820"/>
            <a:ext cx="2855809" cy="1337436"/>
          </a:xfrm>
          <a:prstGeom prst="rect">
            <a:avLst/>
          </a:prstGeom>
        </p:spPr>
        <p:txBody>
          <a:bodyPr/>
          <a:lstStyle>
            <a:lvl1pPr marL="0" indent="0">
              <a:buNone/>
              <a:defRPr sz="3200" b="1" i="1">
                <a:solidFill>
                  <a:srgbClr val="3D3935"/>
                </a:solidFill>
                <a:latin typeface="Barlow Condensed SemiBold" pitchFamily="2" charset="77"/>
              </a:defRPr>
            </a:lvl1pPr>
          </a:lstStyle>
          <a:p>
            <a:pPr lvl="0"/>
            <a:r>
              <a:rPr lang="es-MX" dirty="0"/>
              <a:t>Contacto:</a:t>
            </a:r>
          </a:p>
          <a:p>
            <a:pPr lvl="0"/>
            <a:r>
              <a:rPr lang="es-MX" dirty="0"/>
              <a:t>lorem@ipsum.com</a:t>
            </a:r>
            <a:endParaRPr lang="es-CL" dirty="0"/>
          </a:p>
        </p:txBody>
      </p:sp>
      <p:sp>
        <p:nvSpPr>
          <p:cNvPr id="4" name="Flecha: pentágono 8">
            <a:extLst>
              <a:ext uri="{FF2B5EF4-FFF2-40B4-BE49-F238E27FC236}">
                <a16:creationId xmlns:a16="http://schemas.microsoft.com/office/drawing/2014/main" id="{F00F2415-2900-C430-57F5-41FC50AFFA97}"/>
              </a:ext>
            </a:extLst>
          </p:cNvPr>
          <p:cNvSpPr/>
          <p:nvPr userDrawn="1"/>
        </p:nvSpPr>
        <p:spPr>
          <a:xfrm rot="5400000">
            <a:off x="349190" y="13011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spTree>
    <p:extLst>
      <p:ext uri="{BB962C8B-B14F-4D97-AF65-F5344CB8AC3E}">
        <p14:creationId xmlns:p14="http://schemas.microsoft.com/office/powerpoint/2010/main" val="2910570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IERRE">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7C62B-5FB7-49C7-9A84-0B392105DEAE}"/>
              </a:ext>
            </a:extLst>
          </p:cNvPr>
          <p:cNvSpPr/>
          <p:nvPr userDrawn="1"/>
        </p:nvSpPr>
        <p:spPr>
          <a:xfrm>
            <a:off x="-1" y="0"/>
            <a:ext cx="381443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9" name="Marcador de texto 18">
            <a:extLst>
              <a:ext uri="{FF2B5EF4-FFF2-40B4-BE49-F238E27FC236}">
                <a16:creationId xmlns:a16="http://schemas.microsoft.com/office/drawing/2014/main" id="{B0B306DE-2B00-A026-2918-6A70A68504EC}"/>
              </a:ext>
            </a:extLst>
          </p:cNvPr>
          <p:cNvSpPr>
            <a:spLocks noGrp="1"/>
          </p:cNvSpPr>
          <p:nvPr>
            <p:ph type="body" sz="quarter" idx="12" hasCustomPrompt="1"/>
          </p:nvPr>
        </p:nvSpPr>
        <p:spPr>
          <a:xfrm>
            <a:off x="4529135" y="2479820"/>
            <a:ext cx="6792009" cy="1337436"/>
          </a:xfrm>
          <a:prstGeom prst="rect">
            <a:avLst/>
          </a:prstGeom>
        </p:spPr>
        <p:txBody>
          <a:bodyPr/>
          <a:lstStyle>
            <a:lvl1pPr marL="0" indent="0" algn="just">
              <a:lnSpc>
                <a:spcPct val="150000"/>
              </a:lnSpc>
              <a:buNone/>
              <a:defRPr sz="5400" b="1" i="1">
                <a:solidFill>
                  <a:schemeClr val="tx1">
                    <a:lumMod val="65000"/>
                    <a:lumOff val="35000"/>
                  </a:schemeClr>
                </a:solidFill>
                <a:latin typeface="Montserrat SemiBold" pitchFamily="2" charset="77"/>
              </a:defRPr>
            </a:lvl1pPr>
          </a:lstStyle>
          <a:p>
            <a:pPr lvl="0"/>
            <a:r>
              <a:rPr lang="es-MX" dirty="0"/>
              <a:t>¡Hasta la Próxima!</a:t>
            </a:r>
          </a:p>
        </p:txBody>
      </p:sp>
      <p:sp>
        <p:nvSpPr>
          <p:cNvPr id="21" name="Marcador de texto 20">
            <a:extLst>
              <a:ext uri="{FF2B5EF4-FFF2-40B4-BE49-F238E27FC236}">
                <a16:creationId xmlns:a16="http://schemas.microsoft.com/office/drawing/2014/main" id="{E2ABD526-70E1-5F50-81E8-B8B51106BEB9}"/>
              </a:ext>
            </a:extLst>
          </p:cNvPr>
          <p:cNvSpPr>
            <a:spLocks noGrp="1"/>
          </p:cNvSpPr>
          <p:nvPr>
            <p:ph type="body" sz="quarter" idx="13" hasCustomPrompt="1"/>
          </p:nvPr>
        </p:nvSpPr>
        <p:spPr>
          <a:xfrm>
            <a:off x="479309" y="2479820"/>
            <a:ext cx="2855809" cy="1337436"/>
          </a:xfrm>
          <a:prstGeom prst="rect">
            <a:avLst/>
          </a:prstGeom>
        </p:spPr>
        <p:txBody>
          <a:bodyPr/>
          <a:lstStyle>
            <a:lvl1pPr marL="0" indent="0">
              <a:buNone/>
              <a:defRPr sz="3200" b="1" i="1">
                <a:solidFill>
                  <a:schemeClr val="bg1"/>
                </a:solidFill>
                <a:latin typeface="Barlow Condensed SemiBold" pitchFamily="2" charset="77"/>
              </a:defRPr>
            </a:lvl1pPr>
          </a:lstStyle>
          <a:p>
            <a:pPr lvl="0"/>
            <a:r>
              <a:rPr lang="es-MX" dirty="0"/>
              <a:t>Contacto:</a:t>
            </a:r>
          </a:p>
          <a:p>
            <a:pPr lvl="0"/>
            <a:r>
              <a:rPr lang="es-MX" dirty="0"/>
              <a:t>lorem@ipsum.com</a:t>
            </a:r>
            <a:endParaRPr lang="es-CL" dirty="0"/>
          </a:p>
        </p:txBody>
      </p:sp>
      <p:sp>
        <p:nvSpPr>
          <p:cNvPr id="4" name="Flecha: pentágono 8">
            <a:extLst>
              <a:ext uri="{FF2B5EF4-FFF2-40B4-BE49-F238E27FC236}">
                <a16:creationId xmlns:a16="http://schemas.microsoft.com/office/drawing/2014/main" id="{554AFA99-47E6-0AAD-DD4C-403B2C742F62}"/>
              </a:ext>
            </a:extLst>
          </p:cNvPr>
          <p:cNvSpPr/>
          <p:nvPr userDrawn="1"/>
        </p:nvSpPr>
        <p:spPr>
          <a:xfrm rot="5400000">
            <a:off x="349190" y="130119"/>
            <a:ext cx="888525" cy="628287"/>
          </a:xfrm>
          <a:custGeom>
            <a:avLst/>
            <a:gdLst>
              <a:gd name="connsiteX0" fmla="*/ 0 w 815666"/>
              <a:gd name="connsiteY0" fmla="*/ 0 h 628287"/>
              <a:gd name="connsiteX1" fmla="*/ 501523 w 815666"/>
              <a:gd name="connsiteY1" fmla="*/ 0 h 628287"/>
              <a:gd name="connsiteX2" fmla="*/ 815666 w 815666"/>
              <a:gd name="connsiteY2" fmla="*/ 314144 h 628287"/>
              <a:gd name="connsiteX3" fmla="*/ 501523 w 815666"/>
              <a:gd name="connsiteY3" fmla="*/ 628287 h 628287"/>
              <a:gd name="connsiteX4" fmla="*/ 0 w 815666"/>
              <a:gd name="connsiteY4" fmla="*/ 628287 h 628287"/>
              <a:gd name="connsiteX5" fmla="*/ 0 w 815666"/>
              <a:gd name="connsiteY5" fmla="*/ 0 h 628287"/>
              <a:gd name="connsiteX0" fmla="*/ 0 w 703526"/>
              <a:gd name="connsiteY0" fmla="*/ 0 h 628287"/>
              <a:gd name="connsiteX1" fmla="*/ 501523 w 703526"/>
              <a:gd name="connsiteY1" fmla="*/ 0 h 628287"/>
              <a:gd name="connsiteX2" fmla="*/ 703526 w 703526"/>
              <a:gd name="connsiteY2" fmla="*/ 314144 h 628287"/>
              <a:gd name="connsiteX3" fmla="*/ 501523 w 703526"/>
              <a:gd name="connsiteY3" fmla="*/ 628287 h 628287"/>
              <a:gd name="connsiteX4" fmla="*/ 0 w 703526"/>
              <a:gd name="connsiteY4" fmla="*/ 628287 h 628287"/>
              <a:gd name="connsiteX5" fmla="*/ 0 w 703526"/>
              <a:gd name="connsiteY5" fmla="*/ 0 h 628287"/>
              <a:gd name="connsiteX0" fmla="*/ 0 w 614097"/>
              <a:gd name="connsiteY0" fmla="*/ 0 h 628287"/>
              <a:gd name="connsiteX1" fmla="*/ 501523 w 614097"/>
              <a:gd name="connsiteY1" fmla="*/ 0 h 628287"/>
              <a:gd name="connsiteX2" fmla="*/ 614097 w 614097"/>
              <a:gd name="connsiteY2" fmla="*/ 305518 h 628287"/>
              <a:gd name="connsiteX3" fmla="*/ 501523 w 614097"/>
              <a:gd name="connsiteY3" fmla="*/ 628287 h 628287"/>
              <a:gd name="connsiteX4" fmla="*/ 0 w 614097"/>
              <a:gd name="connsiteY4" fmla="*/ 628287 h 628287"/>
              <a:gd name="connsiteX5" fmla="*/ 0 w 614097"/>
              <a:gd name="connsiteY5" fmla="*/ 0 h 62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4097" h="628287">
                <a:moveTo>
                  <a:pt x="0" y="0"/>
                </a:moveTo>
                <a:lnTo>
                  <a:pt x="501523" y="0"/>
                </a:lnTo>
                <a:lnTo>
                  <a:pt x="614097" y="305518"/>
                </a:lnTo>
                <a:lnTo>
                  <a:pt x="501523" y="628287"/>
                </a:lnTo>
                <a:lnTo>
                  <a:pt x="0" y="628287"/>
                </a:lnTo>
                <a:lnTo>
                  <a:pt x="0" y="0"/>
                </a:lnTo>
                <a:close/>
              </a:path>
            </a:pathLst>
          </a:custGeom>
          <a:solidFill>
            <a:srgbClr val="E125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ln>
                <a:noFill/>
              </a:ln>
              <a:noFill/>
            </a:endParaRPr>
          </a:p>
        </p:txBody>
      </p:sp>
    </p:spTree>
    <p:extLst>
      <p:ext uri="{BB962C8B-B14F-4D97-AF65-F5344CB8AC3E}">
        <p14:creationId xmlns:p14="http://schemas.microsoft.com/office/powerpoint/2010/main" val="7281039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5233429"/>
      </p:ext>
    </p:extLst>
  </p:cSld>
  <p:clrMap bg1="lt1" tx1="dk1" bg2="lt2" tx2="dk2" accent1="accent1" accent2="accent2" accent3="accent3" accent4="accent4" accent5="accent5" accent6="accent6" hlink="hlink" folHlink="folHlink"/>
  <p:sldLayoutIdLst>
    <p:sldLayoutId id="2147483659" r:id="rId1"/>
    <p:sldLayoutId id="2147483649" r:id="rId2"/>
    <p:sldLayoutId id="2147483660" r:id="rId3"/>
  </p:sldLayoutIdLst>
  <p:txStyles>
    <p:titleStyle>
      <a:lvl1pPr algn="l" defTabSz="914400" rtl="0" eaLnBrk="1" latinLnBrk="0" hangingPunct="1">
        <a:lnSpc>
          <a:spcPct val="90000"/>
        </a:lnSpc>
        <a:spcBef>
          <a:spcPct val="0"/>
        </a:spcBef>
        <a:buNone/>
        <a:defRPr sz="1800" b="0" i="0" kern="1200">
          <a:solidFill>
            <a:schemeClr val="bg1"/>
          </a:solidFill>
          <a:latin typeface="Montserrat Medium" pitchFamily="2" charset="77"/>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4000" b="1" i="0" kern="1200">
          <a:solidFill>
            <a:schemeClr val="bg1"/>
          </a:solidFill>
          <a:latin typeface="Barlow Condensed ExtraBold"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666475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61" r:id="rId3"/>
    <p:sldLayoutId id="2147483662" r:id="rId4"/>
    <p:sldLayoutId id="2147483654" r:id="rId5"/>
    <p:sldLayoutId id="2147483655" r:id="rId6"/>
    <p:sldLayoutId id="214748366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0199829"/>
      </p:ext>
    </p:extLst>
  </p:cSld>
  <p:clrMap bg1="lt1" tx1="dk1" bg2="lt2" tx2="dk2" accent1="accent1" accent2="accent2" accent3="accent3" accent4="accent4" accent5="accent5" accent6="accent6" hlink="hlink" folHlink="folHlink"/>
  <p:sldLayoutIdLst>
    <p:sldLayoutId id="2147483657" r:id="rId1"/>
    <p:sldLayoutId id="2147483664" r:id="rId2"/>
    <p:sldLayoutId id="2147483656" r:id="rId3"/>
    <p:sldLayoutId id="2147483658" r:id="rId4"/>
    <p:sldLayoutId id="2147483665" r:id="rId5"/>
    <p:sldLayoutId id="214748366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88658FB5-A6D5-17FF-9429-955864F4CEB2}"/>
              </a:ext>
            </a:extLst>
          </p:cNvPr>
          <p:cNvSpPr>
            <a:spLocks noGrp="1"/>
          </p:cNvSpPr>
          <p:nvPr>
            <p:ph type="title"/>
          </p:nvPr>
        </p:nvSpPr>
        <p:spPr/>
        <p:txBody>
          <a:bodyPr/>
          <a:lstStyle/>
          <a:p>
            <a:r>
              <a:rPr lang="es-CL" dirty="0"/>
              <a:t>Programación Científica</a:t>
            </a:r>
          </a:p>
        </p:txBody>
      </p:sp>
      <p:sp>
        <p:nvSpPr>
          <p:cNvPr id="4" name="Marcador de texto 3">
            <a:extLst>
              <a:ext uri="{FF2B5EF4-FFF2-40B4-BE49-F238E27FC236}">
                <a16:creationId xmlns:a16="http://schemas.microsoft.com/office/drawing/2014/main" id="{A6E684F0-EA48-7444-7436-3EF958379858}"/>
              </a:ext>
            </a:extLst>
          </p:cNvPr>
          <p:cNvSpPr>
            <a:spLocks noGrp="1"/>
          </p:cNvSpPr>
          <p:nvPr>
            <p:ph type="body" sz="quarter" idx="10"/>
          </p:nvPr>
        </p:nvSpPr>
        <p:spPr>
          <a:xfrm>
            <a:off x="941383" y="3956050"/>
            <a:ext cx="4545012" cy="809767"/>
          </a:xfrm>
        </p:spPr>
        <p:txBody>
          <a:bodyPr/>
          <a:lstStyle/>
          <a:p>
            <a:r>
              <a:rPr lang="es-CL" dirty="0"/>
              <a:t>Gastón Garrido </a:t>
            </a:r>
            <a:r>
              <a:rPr lang="es-CL" dirty="0" err="1"/>
              <a:t>Garrido</a:t>
            </a:r>
            <a:endParaRPr lang="es-CL" dirty="0"/>
          </a:p>
          <a:p>
            <a:r>
              <a:rPr lang="es-CL" dirty="0"/>
              <a:t>Variante 10 — </a:t>
            </a:r>
            <a:r>
              <a:rPr lang="es-CL" dirty="0" err="1"/>
              <a:t>xAPI</a:t>
            </a:r>
            <a:r>
              <a:rPr lang="es-CL" dirty="0"/>
              <a:t>-Edu-Data Universidad</a:t>
            </a:r>
          </a:p>
        </p:txBody>
      </p:sp>
      <p:sp>
        <p:nvSpPr>
          <p:cNvPr id="5" name="Marcador de texto 4">
            <a:extLst>
              <a:ext uri="{FF2B5EF4-FFF2-40B4-BE49-F238E27FC236}">
                <a16:creationId xmlns:a16="http://schemas.microsoft.com/office/drawing/2014/main" id="{990C014A-5974-D958-4C5C-995837B1C622}"/>
              </a:ext>
            </a:extLst>
          </p:cNvPr>
          <p:cNvSpPr>
            <a:spLocks noGrp="1"/>
          </p:cNvSpPr>
          <p:nvPr>
            <p:ph type="body" sz="quarter" idx="12"/>
          </p:nvPr>
        </p:nvSpPr>
        <p:spPr>
          <a:xfrm>
            <a:off x="838199" y="2789549"/>
            <a:ext cx="5893266" cy="815664"/>
          </a:xfrm>
        </p:spPr>
        <p:txBody>
          <a:bodyPr lIns="91440" tIns="45720" rIns="91440" bIns="45720" anchor="t"/>
          <a:lstStyle/>
          <a:p>
            <a:r>
              <a:rPr lang="es-CL" b="0" dirty="0">
                <a:latin typeface="Barlow Condensed SemiBold"/>
              </a:rPr>
              <a:t>Students Performance</a:t>
            </a:r>
          </a:p>
        </p:txBody>
      </p:sp>
    </p:spTree>
    <p:extLst>
      <p:ext uri="{BB962C8B-B14F-4D97-AF65-F5344CB8AC3E}">
        <p14:creationId xmlns:p14="http://schemas.microsoft.com/office/powerpoint/2010/main" val="3132973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64E571C7-40A5-C245-F9B8-E1B7424C14D0}"/>
              </a:ext>
            </a:extLst>
          </p:cNvPr>
          <p:cNvSpPr>
            <a:spLocks noGrp="1"/>
          </p:cNvSpPr>
          <p:nvPr>
            <p:ph type="body" sz="quarter" idx="10"/>
          </p:nvPr>
        </p:nvSpPr>
        <p:spPr/>
        <p:txBody>
          <a:bodyPr lIns="91440" tIns="45720" rIns="91440" bIns="45720" anchor="t"/>
          <a:lstStyle/>
          <a:p>
            <a:r>
              <a:rPr lang="es-CL" dirty="0">
                <a:solidFill>
                  <a:schemeClr val="tx1">
                    <a:lumMod val="65000"/>
                    <a:lumOff val="35000"/>
                  </a:schemeClr>
                </a:solidFill>
                <a:latin typeface="Barlow Condensed SemiBold"/>
              </a:rPr>
              <a:t>Introducción</a:t>
            </a:r>
            <a:endParaRPr lang="es-CL" dirty="0">
              <a:solidFill>
                <a:schemeClr val="tx1">
                  <a:lumMod val="65000"/>
                  <a:lumOff val="35000"/>
                </a:schemeClr>
              </a:solidFill>
            </a:endParaRPr>
          </a:p>
        </p:txBody>
      </p:sp>
      <p:sp>
        <p:nvSpPr>
          <p:cNvPr id="4" name="Marcador de texto 3">
            <a:extLst>
              <a:ext uri="{FF2B5EF4-FFF2-40B4-BE49-F238E27FC236}">
                <a16:creationId xmlns:a16="http://schemas.microsoft.com/office/drawing/2014/main" id="{422BDEC4-60E7-6C58-41EA-5D44CA15EB9C}"/>
              </a:ext>
            </a:extLst>
          </p:cNvPr>
          <p:cNvSpPr>
            <a:spLocks noGrp="1"/>
          </p:cNvSpPr>
          <p:nvPr>
            <p:ph type="body" sz="quarter" idx="11"/>
          </p:nvPr>
        </p:nvSpPr>
        <p:spPr/>
        <p:txBody>
          <a:bodyPr lIns="91440" tIns="45720" rIns="91440" bIns="45720" anchor="ctr"/>
          <a:lstStyle/>
          <a:p>
            <a:r>
              <a:rPr lang="es-CL" dirty="0" err="1">
                <a:solidFill>
                  <a:schemeClr val="tx1">
                    <a:lumMod val="65000"/>
                    <a:lumOff val="35000"/>
                  </a:schemeClr>
                </a:solidFill>
              </a:rPr>
              <a:t>Dataset</a:t>
            </a:r>
            <a:r>
              <a:rPr lang="es-CL" dirty="0">
                <a:solidFill>
                  <a:schemeClr val="tx1">
                    <a:lumMod val="65000"/>
                    <a:lumOff val="35000"/>
                  </a:schemeClr>
                </a:solidFill>
              </a:rPr>
              <a:t> </a:t>
            </a:r>
            <a:r>
              <a:rPr lang="es-CL" dirty="0" err="1">
                <a:solidFill>
                  <a:schemeClr val="tx1">
                    <a:lumMod val="65000"/>
                    <a:lumOff val="35000"/>
                  </a:schemeClr>
                </a:solidFill>
              </a:rPr>
              <a:t>xAPI</a:t>
            </a:r>
            <a:r>
              <a:rPr lang="es-CL" dirty="0">
                <a:solidFill>
                  <a:schemeClr val="tx1">
                    <a:lumMod val="65000"/>
                    <a:lumOff val="35000"/>
                  </a:schemeClr>
                </a:solidFill>
              </a:rPr>
              <a:t>-Edu-Data</a:t>
            </a:r>
            <a:endParaRPr lang="es-ES" dirty="0">
              <a:solidFill>
                <a:schemeClr val="tx1">
                  <a:lumMod val="65000"/>
                  <a:lumOff val="35000"/>
                </a:schemeClr>
              </a:solidFill>
            </a:endParaRPr>
          </a:p>
        </p:txBody>
      </p:sp>
      <p:sp>
        <p:nvSpPr>
          <p:cNvPr id="5" name="Marcador de texto 4">
            <a:extLst>
              <a:ext uri="{FF2B5EF4-FFF2-40B4-BE49-F238E27FC236}">
                <a16:creationId xmlns:a16="http://schemas.microsoft.com/office/drawing/2014/main" id="{CABCA303-34EA-DDD7-BF08-D3C3F02382FB}"/>
              </a:ext>
            </a:extLst>
          </p:cNvPr>
          <p:cNvSpPr>
            <a:spLocks noGrp="1"/>
          </p:cNvSpPr>
          <p:nvPr>
            <p:ph type="body" sz="quarter" idx="12"/>
          </p:nvPr>
        </p:nvSpPr>
        <p:spPr>
          <a:xfrm>
            <a:off x="5243840" y="1473487"/>
            <a:ext cx="6286578" cy="2931131"/>
          </a:xfrm>
        </p:spPr>
        <p:txBody>
          <a:bodyPr lIns="91440" tIns="45720" rIns="91440" bIns="45720" anchor="t"/>
          <a:lstStyle/>
          <a:p>
            <a:r>
              <a:rPr lang="es-MX" sz="1800" b="1" dirty="0">
                <a:latin typeface="Montserrat" panose="00000500000000000000" pitchFamily="2" charset="0"/>
              </a:rPr>
              <a:t>Objetivo de la Investigación</a:t>
            </a:r>
          </a:p>
          <a:p>
            <a:r>
              <a:rPr lang="es-CL" dirty="0"/>
              <a:t>Nuestro objetivo principal es determinar la influencia de los hábitos de comportamiento escolar en este rendimiento académico, enfocándonos en la participación en clases, el uso de recursos del curso, el impacto de la asistencia a clases y los factores socioeconómicos.</a:t>
            </a:r>
          </a:p>
        </p:txBody>
      </p:sp>
      <p:sp>
        <p:nvSpPr>
          <p:cNvPr id="6" name="Marcador de texto 5">
            <a:extLst>
              <a:ext uri="{FF2B5EF4-FFF2-40B4-BE49-F238E27FC236}">
                <a16:creationId xmlns:a16="http://schemas.microsoft.com/office/drawing/2014/main" id="{3F4E5646-EC54-844E-C15C-32A30BFE93E6}"/>
              </a:ext>
            </a:extLst>
          </p:cNvPr>
          <p:cNvSpPr>
            <a:spLocks noGrp="1"/>
          </p:cNvSpPr>
          <p:nvPr>
            <p:ph type="body" sz="quarter" idx="13"/>
          </p:nvPr>
        </p:nvSpPr>
        <p:spPr>
          <a:xfrm>
            <a:off x="341906" y="1422297"/>
            <a:ext cx="3204376" cy="4509376"/>
          </a:xfrm>
        </p:spPr>
        <p:txBody>
          <a:bodyPr lIns="91440" tIns="45720" rIns="91440" bIns="45720" anchor="t"/>
          <a:lstStyle/>
          <a:p>
            <a:pPr>
              <a:lnSpc>
                <a:spcPct val="150000"/>
              </a:lnSpc>
            </a:pPr>
            <a:r>
              <a:rPr lang="es-CL" sz="1800" i="0" dirty="0">
                <a:latin typeface="Montserrat" panose="00000500000000000000" pitchFamily="2" charset="0"/>
              </a:rPr>
              <a:t>Plataforma Educativa </a:t>
            </a:r>
            <a:r>
              <a:rPr lang="es-CL" sz="1800" i="0" dirty="0" err="1">
                <a:latin typeface="Montserrat" panose="00000500000000000000" pitchFamily="2" charset="0"/>
              </a:rPr>
              <a:t>Kalboard</a:t>
            </a:r>
            <a:r>
              <a:rPr lang="es-CL" sz="1800" dirty="0">
                <a:latin typeface="Montserrat" panose="00000500000000000000" pitchFamily="2" charset="0"/>
              </a:rPr>
              <a:t> 360</a:t>
            </a:r>
          </a:p>
          <a:p>
            <a:pPr>
              <a:lnSpc>
                <a:spcPct val="150000"/>
              </a:lnSpc>
            </a:pPr>
            <a:r>
              <a:rPr lang="es-CL" sz="1200" b="0" i="0" dirty="0">
                <a:latin typeface="Montserrat" panose="00000500000000000000" pitchFamily="2" charset="0"/>
              </a:rPr>
              <a:t>Los datos corresponden a las interacciones registradas mediante el estándar </a:t>
            </a:r>
            <a:r>
              <a:rPr lang="es-CL" sz="1200" b="0" i="0" dirty="0" err="1">
                <a:latin typeface="Montserrat" panose="00000500000000000000" pitchFamily="2" charset="0"/>
              </a:rPr>
              <a:t>xAPI</a:t>
            </a:r>
            <a:r>
              <a:rPr lang="es-CL" sz="1200" b="0" i="0" dirty="0">
                <a:latin typeface="Montserrat" panose="00000500000000000000" pitchFamily="2" charset="0"/>
              </a:rPr>
              <a:t> de un total de 480 estudiantes.</a:t>
            </a:r>
          </a:p>
          <a:p>
            <a:pPr>
              <a:lnSpc>
                <a:spcPct val="150000"/>
              </a:lnSpc>
            </a:pPr>
            <a:r>
              <a:rPr lang="es-CL" sz="1200" b="0" i="0" dirty="0">
                <a:latin typeface="Montserrat" panose="00000500000000000000" pitchFamily="2" charset="0"/>
              </a:rPr>
              <a:t>La variable objetivo Class divide el desempeño final en 3 intervalos lógicos:</a:t>
            </a:r>
          </a:p>
          <a:p>
            <a:pPr marL="285750" indent="-285750">
              <a:buFont typeface="Arial" panose="020B0604020202020204" pitchFamily="34" charset="0"/>
              <a:buChar char="•"/>
            </a:pPr>
            <a:r>
              <a:rPr lang="es-MX" sz="1200" i="0" dirty="0">
                <a:latin typeface="Montserrat" panose="00000500000000000000" pitchFamily="2" charset="0"/>
              </a:rPr>
              <a:t>Alto (H): </a:t>
            </a:r>
            <a:r>
              <a:rPr lang="es-MX" sz="1200" b="0" i="0" dirty="0">
                <a:latin typeface="Montserrat" panose="00000500000000000000" pitchFamily="2" charset="0"/>
              </a:rPr>
              <a:t>142 estudiantes (29.6%)</a:t>
            </a:r>
          </a:p>
          <a:p>
            <a:pPr marL="285750" indent="-285750">
              <a:buFont typeface="Arial" panose="020B0604020202020204" pitchFamily="34" charset="0"/>
              <a:buChar char="•"/>
            </a:pPr>
            <a:r>
              <a:rPr lang="es-MX" sz="1200" i="0" dirty="0">
                <a:latin typeface="Montserrat" panose="00000500000000000000" pitchFamily="2" charset="0"/>
              </a:rPr>
              <a:t>Medio (M): </a:t>
            </a:r>
            <a:r>
              <a:rPr lang="es-MX" sz="1200" b="0" i="0" dirty="0">
                <a:latin typeface="Montserrat" panose="00000500000000000000" pitchFamily="2" charset="0"/>
              </a:rPr>
              <a:t>211 estudiantes (44.0%)</a:t>
            </a:r>
          </a:p>
          <a:p>
            <a:pPr marL="285750" indent="-285750">
              <a:buFont typeface="Arial" panose="020B0604020202020204" pitchFamily="34" charset="0"/>
              <a:buChar char="•"/>
            </a:pPr>
            <a:r>
              <a:rPr lang="es-MX" sz="1200" i="0" dirty="0">
                <a:latin typeface="Montserrat" panose="00000500000000000000" pitchFamily="2" charset="0"/>
              </a:rPr>
              <a:t>Bajo (L): </a:t>
            </a:r>
            <a:r>
              <a:rPr lang="es-MX" sz="1200" b="0" i="0" dirty="0">
                <a:latin typeface="Montserrat" panose="00000500000000000000" pitchFamily="2" charset="0"/>
              </a:rPr>
              <a:t>127 estudiantes (26.5%)</a:t>
            </a:r>
            <a:endParaRPr lang="es-CL" sz="1200" b="0" i="0" dirty="0">
              <a:latin typeface="Montserrat" panose="00000500000000000000" pitchFamily="2" charset="0"/>
            </a:endParaRPr>
          </a:p>
          <a:p>
            <a:pPr>
              <a:lnSpc>
                <a:spcPct val="150000"/>
              </a:lnSpc>
            </a:pPr>
            <a:endParaRPr lang="es-CL" sz="1200" b="0" i="0" dirty="0">
              <a:latin typeface="Montserrat" panose="00000500000000000000" pitchFamily="2" charset="0"/>
            </a:endParaRPr>
          </a:p>
          <a:p>
            <a:pPr>
              <a:lnSpc>
                <a:spcPct val="150000"/>
              </a:lnSpc>
            </a:pPr>
            <a:endParaRPr lang="es-CL" sz="1200" dirty="0">
              <a:latin typeface="Montserrat" panose="00000500000000000000" pitchFamily="2" charset="0"/>
            </a:endParaRPr>
          </a:p>
        </p:txBody>
      </p:sp>
      <p:pic>
        <p:nvPicPr>
          <p:cNvPr id="10" name="Picture 9">
            <a:extLst>
              <a:ext uri="{FF2B5EF4-FFF2-40B4-BE49-F238E27FC236}">
                <a16:creationId xmlns:a16="http://schemas.microsoft.com/office/drawing/2014/main" id="{223B41CA-B510-38FF-2868-36DA3793D714}"/>
              </a:ext>
            </a:extLst>
          </p:cNvPr>
          <p:cNvPicPr>
            <a:picLocks noChangeAspect="1"/>
          </p:cNvPicPr>
          <p:nvPr/>
        </p:nvPicPr>
        <p:blipFill>
          <a:blip r:embed="rId2"/>
          <a:stretch>
            <a:fillRect/>
          </a:stretch>
        </p:blipFill>
        <p:spPr>
          <a:xfrm>
            <a:off x="6688951" y="3971884"/>
            <a:ext cx="2985828" cy="1959789"/>
          </a:xfrm>
          <a:prstGeom prst="rect">
            <a:avLst/>
          </a:prstGeom>
        </p:spPr>
      </p:pic>
    </p:spTree>
    <p:extLst>
      <p:ext uri="{BB962C8B-B14F-4D97-AF65-F5344CB8AC3E}">
        <p14:creationId xmlns:p14="http://schemas.microsoft.com/office/powerpoint/2010/main" val="13355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8196A-59DB-CEDE-DA8B-472F28E5C20C}"/>
            </a:ext>
          </a:extLst>
        </p:cNvPr>
        <p:cNvGrpSpPr/>
        <p:nvPr/>
      </p:nvGrpSpPr>
      <p:grpSpPr>
        <a:xfrm>
          <a:off x="0" y="0"/>
          <a:ext cx="0" cy="0"/>
          <a:chOff x="0" y="0"/>
          <a:chExt cx="0" cy="0"/>
        </a:xfrm>
      </p:grpSpPr>
      <p:sp>
        <p:nvSpPr>
          <p:cNvPr id="3" name="Marcador de texto 2">
            <a:extLst>
              <a:ext uri="{FF2B5EF4-FFF2-40B4-BE49-F238E27FC236}">
                <a16:creationId xmlns:a16="http://schemas.microsoft.com/office/drawing/2014/main" id="{99BA572F-8589-7A42-3AA4-595A3283C1A6}"/>
              </a:ext>
            </a:extLst>
          </p:cNvPr>
          <p:cNvSpPr>
            <a:spLocks noGrp="1"/>
          </p:cNvSpPr>
          <p:nvPr>
            <p:ph type="body" sz="quarter" idx="10"/>
          </p:nvPr>
        </p:nvSpPr>
        <p:spPr/>
        <p:txBody>
          <a:bodyPr lIns="91440" tIns="45720" rIns="91440" bIns="45720" anchor="ctr"/>
          <a:lstStyle/>
          <a:p>
            <a:r>
              <a:rPr lang="es-CL" dirty="0">
                <a:solidFill>
                  <a:schemeClr val="tx1">
                    <a:lumMod val="65000"/>
                    <a:lumOff val="35000"/>
                  </a:schemeClr>
                </a:solidFill>
                <a:latin typeface="Barlow Condensed SemiBold"/>
              </a:rPr>
              <a:t>Exploración inicial</a:t>
            </a:r>
            <a:endParaRPr lang="es-ES" dirty="0">
              <a:solidFill>
                <a:schemeClr val="tx1">
                  <a:lumMod val="65000"/>
                  <a:lumOff val="35000"/>
                </a:schemeClr>
              </a:solidFill>
            </a:endParaRPr>
          </a:p>
        </p:txBody>
      </p:sp>
      <p:sp>
        <p:nvSpPr>
          <p:cNvPr id="2" name="Marcador de texto 1">
            <a:extLst>
              <a:ext uri="{FF2B5EF4-FFF2-40B4-BE49-F238E27FC236}">
                <a16:creationId xmlns:a16="http://schemas.microsoft.com/office/drawing/2014/main" id="{1722B6C9-EEBB-396F-2810-3E26999E60B2}"/>
              </a:ext>
            </a:extLst>
          </p:cNvPr>
          <p:cNvSpPr>
            <a:spLocks noGrp="1"/>
          </p:cNvSpPr>
          <p:nvPr>
            <p:ph type="body" sz="quarter" idx="11"/>
          </p:nvPr>
        </p:nvSpPr>
        <p:spPr/>
        <p:txBody>
          <a:bodyPr lIns="91440" tIns="45720" rIns="91440" bIns="45720" anchor="ctr"/>
          <a:lstStyle/>
          <a:p>
            <a:r>
              <a:rPr lang="es-CL" dirty="0" err="1">
                <a:solidFill>
                  <a:schemeClr val="tx1">
                    <a:lumMod val="65000"/>
                    <a:lumOff val="35000"/>
                  </a:schemeClr>
                </a:solidFill>
              </a:rPr>
              <a:t>Dataset</a:t>
            </a:r>
            <a:r>
              <a:rPr lang="es-CL" dirty="0">
                <a:solidFill>
                  <a:schemeClr val="tx1">
                    <a:lumMod val="65000"/>
                    <a:lumOff val="35000"/>
                  </a:schemeClr>
                </a:solidFill>
              </a:rPr>
              <a:t> </a:t>
            </a:r>
            <a:r>
              <a:rPr lang="es-CL" dirty="0" err="1">
                <a:solidFill>
                  <a:schemeClr val="tx1">
                    <a:lumMod val="65000"/>
                    <a:lumOff val="35000"/>
                  </a:schemeClr>
                </a:solidFill>
              </a:rPr>
              <a:t>xAPI</a:t>
            </a:r>
            <a:r>
              <a:rPr lang="es-CL" dirty="0">
                <a:solidFill>
                  <a:schemeClr val="tx1">
                    <a:lumMod val="65000"/>
                    <a:lumOff val="35000"/>
                  </a:schemeClr>
                </a:solidFill>
              </a:rPr>
              <a:t>-Edu-Data</a:t>
            </a:r>
            <a:endParaRPr lang="es-ES" dirty="0">
              <a:solidFill>
                <a:schemeClr val="tx1">
                  <a:lumMod val="65000"/>
                  <a:lumOff val="35000"/>
                </a:schemeClr>
              </a:solidFill>
            </a:endParaRPr>
          </a:p>
        </p:txBody>
      </p:sp>
      <p:graphicFrame>
        <p:nvGraphicFramePr>
          <p:cNvPr id="8" name="Table 7">
            <a:extLst>
              <a:ext uri="{FF2B5EF4-FFF2-40B4-BE49-F238E27FC236}">
                <a16:creationId xmlns:a16="http://schemas.microsoft.com/office/drawing/2014/main" id="{091D28AD-A388-E70C-9E5D-BFE5698628E3}"/>
              </a:ext>
            </a:extLst>
          </p:cNvPr>
          <p:cNvGraphicFramePr>
            <a:graphicFrameLocks noGrp="1"/>
          </p:cNvGraphicFramePr>
          <p:nvPr>
            <p:extLst>
              <p:ext uri="{D42A27DB-BD31-4B8C-83A1-F6EECF244321}">
                <p14:modId xmlns:p14="http://schemas.microsoft.com/office/powerpoint/2010/main" val="1603453841"/>
              </p:ext>
            </p:extLst>
          </p:nvPr>
        </p:nvGraphicFramePr>
        <p:xfrm>
          <a:off x="1036839" y="2943686"/>
          <a:ext cx="10522040" cy="1539240"/>
        </p:xfrm>
        <a:graphic>
          <a:graphicData uri="http://schemas.openxmlformats.org/drawingml/2006/table">
            <a:tbl>
              <a:tblPr firstRow="1" bandRow="1">
                <a:tableStyleId>{69012ECD-51FC-41F1-AA8D-1B2483CD663E}</a:tableStyleId>
              </a:tblPr>
              <a:tblGrid>
                <a:gridCol w="1496811">
                  <a:extLst>
                    <a:ext uri="{9D8B030D-6E8A-4147-A177-3AD203B41FA5}">
                      <a16:colId xmlns:a16="http://schemas.microsoft.com/office/drawing/2014/main" val="372777116"/>
                    </a:ext>
                  </a:extLst>
                </a:gridCol>
                <a:gridCol w="7909464">
                  <a:extLst>
                    <a:ext uri="{9D8B030D-6E8A-4147-A177-3AD203B41FA5}">
                      <a16:colId xmlns:a16="http://schemas.microsoft.com/office/drawing/2014/main" val="1803336141"/>
                    </a:ext>
                  </a:extLst>
                </a:gridCol>
                <a:gridCol w="1115765">
                  <a:extLst>
                    <a:ext uri="{9D8B030D-6E8A-4147-A177-3AD203B41FA5}">
                      <a16:colId xmlns:a16="http://schemas.microsoft.com/office/drawing/2014/main" val="1023989307"/>
                    </a:ext>
                  </a:extLst>
                </a:gridCol>
              </a:tblGrid>
              <a:tr h="370840">
                <a:tc>
                  <a:txBody>
                    <a:bodyPr/>
                    <a:lstStyle/>
                    <a:p>
                      <a:pPr algn="just"/>
                      <a:r>
                        <a:rPr lang="es-CL" sz="1100" dirty="0"/>
                        <a:t>Categoría</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CL" sz="1100" dirty="0"/>
                        <a:t>Variables</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CL" sz="1100" dirty="0"/>
                        <a:t>Tipo</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6546431"/>
                  </a:ext>
                </a:extLst>
              </a:tr>
              <a:tr h="370840">
                <a:tc>
                  <a:txBody>
                    <a:bodyPr/>
                    <a:lstStyle/>
                    <a:p>
                      <a:pPr algn="just"/>
                      <a:r>
                        <a:rPr lang="es-CL" sz="1100" dirty="0"/>
                        <a:t>Numéricas</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CL" sz="1100" dirty="0" err="1"/>
                        <a:t>raisedhands</a:t>
                      </a:r>
                      <a:r>
                        <a:rPr lang="es-CL" sz="1100" dirty="0"/>
                        <a:t>, </a:t>
                      </a:r>
                      <a:r>
                        <a:rPr lang="es-CL" sz="1100" dirty="0" err="1"/>
                        <a:t>VisITedResources</a:t>
                      </a:r>
                      <a:r>
                        <a:rPr lang="es-CL" sz="1100" dirty="0"/>
                        <a:t>, </a:t>
                      </a:r>
                      <a:r>
                        <a:rPr lang="es-CL" sz="1100" dirty="0" err="1"/>
                        <a:t>AnnouncementsView</a:t>
                      </a:r>
                      <a:r>
                        <a:rPr lang="es-CL" sz="1100" dirty="0"/>
                        <a:t>, </a:t>
                      </a:r>
                      <a:r>
                        <a:rPr lang="es-CL" sz="1100" dirty="0" err="1"/>
                        <a:t>Discussion</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CL" sz="1100" dirty="0"/>
                        <a:t>Int64</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6607574"/>
                  </a:ext>
                </a:extLst>
              </a:tr>
              <a:tr h="370840">
                <a:tc>
                  <a:txBody>
                    <a:bodyPr/>
                    <a:lstStyle/>
                    <a:p>
                      <a:pPr algn="just"/>
                      <a:r>
                        <a:rPr lang="es-CL" sz="1100" dirty="0"/>
                        <a:t>Categóricas</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CL" sz="1100" dirty="0" err="1"/>
                        <a:t>gender</a:t>
                      </a:r>
                      <a:r>
                        <a:rPr lang="es-CL" sz="1100" dirty="0"/>
                        <a:t>, </a:t>
                      </a:r>
                      <a:r>
                        <a:rPr lang="es-CL" sz="1100" dirty="0" err="1"/>
                        <a:t>NationalITy</a:t>
                      </a:r>
                      <a:r>
                        <a:rPr lang="es-CL" sz="1100" dirty="0"/>
                        <a:t>, </a:t>
                      </a:r>
                      <a:r>
                        <a:rPr lang="es-CL" sz="1100" dirty="0" err="1"/>
                        <a:t>PlaceofBirth</a:t>
                      </a:r>
                      <a:r>
                        <a:rPr lang="es-CL" sz="1100" dirty="0"/>
                        <a:t>, </a:t>
                      </a:r>
                      <a:r>
                        <a:rPr lang="es-CL" sz="1100" dirty="0" err="1"/>
                        <a:t>StageID</a:t>
                      </a:r>
                      <a:r>
                        <a:rPr lang="es-CL" sz="1100" dirty="0"/>
                        <a:t>, </a:t>
                      </a:r>
                      <a:r>
                        <a:rPr lang="es-CL" sz="1100" dirty="0" err="1"/>
                        <a:t>GradeID</a:t>
                      </a:r>
                      <a:r>
                        <a:rPr lang="es-CL" sz="1100" dirty="0"/>
                        <a:t>, </a:t>
                      </a:r>
                      <a:r>
                        <a:rPr lang="es-CL" sz="1100" dirty="0" err="1"/>
                        <a:t>SectionID</a:t>
                      </a:r>
                      <a:r>
                        <a:rPr lang="es-CL" sz="1100" dirty="0"/>
                        <a:t>, Topic, </a:t>
                      </a:r>
                      <a:r>
                        <a:rPr lang="es-CL" sz="1100" dirty="0" err="1"/>
                        <a:t>Semester</a:t>
                      </a:r>
                      <a:r>
                        <a:rPr lang="es-CL" sz="1100" dirty="0"/>
                        <a:t>, Relation, </a:t>
                      </a:r>
                      <a:r>
                        <a:rPr lang="es-CL" sz="1100" dirty="0" err="1"/>
                        <a:t>ParentAnsweringSurvey</a:t>
                      </a:r>
                      <a:r>
                        <a:rPr lang="es-CL" sz="1100" dirty="0"/>
                        <a:t>, </a:t>
                      </a:r>
                      <a:r>
                        <a:rPr lang="es-CL" sz="1100" dirty="0" err="1"/>
                        <a:t>ParentschoolSatisfaction</a:t>
                      </a:r>
                      <a:r>
                        <a:rPr lang="es-CL" sz="1100" dirty="0"/>
                        <a:t>, </a:t>
                      </a:r>
                      <a:r>
                        <a:rPr lang="es-CL" sz="1100" dirty="0" err="1"/>
                        <a:t>StudentAbsenceDays</a:t>
                      </a:r>
                      <a:r>
                        <a:rPr lang="es-CL" sz="1100" dirty="0"/>
                        <a:t>, Class</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CL" sz="1100" dirty="0" err="1"/>
                        <a:t>Object</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3031135"/>
                  </a:ext>
                </a:extLst>
              </a:tr>
              <a:tr h="370840">
                <a:tc>
                  <a:txBody>
                    <a:bodyPr/>
                    <a:lstStyle/>
                    <a:p>
                      <a:pPr algn="just"/>
                      <a:r>
                        <a:rPr lang="es-CL" sz="1100" dirty="0"/>
                        <a:t>Variable objetivo</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CL" sz="1100" b="0" kern="1200" dirty="0">
                          <a:solidFill>
                            <a:schemeClr val="tx1"/>
                          </a:solidFill>
                          <a:effectLst/>
                        </a:rPr>
                        <a:t>Class (L: Bajo, M: Medio, H: Alto)</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s-CL" sz="1100" dirty="0" err="1"/>
                        <a:t>Object</a:t>
                      </a:r>
                      <a:r>
                        <a:rPr lang="es-CL" sz="1100" dirty="0"/>
                        <a:t> </a:t>
                      </a:r>
                      <a:endParaRPr lang="es-CL" sz="1100" dirty="0">
                        <a:latin typeface="Montserrat" panose="000005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786948"/>
                  </a:ext>
                </a:extLst>
              </a:tr>
            </a:tbl>
          </a:graphicData>
        </a:graphic>
      </p:graphicFrame>
      <p:sp>
        <p:nvSpPr>
          <p:cNvPr id="11" name="TextBox 10">
            <a:extLst>
              <a:ext uri="{FF2B5EF4-FFF2-40B4-BE49-F238E27FC236}">
                <a16:creationId xmlns:a16="http://schemas.microsoft.com/office/drawing/2014/main" id="{CD91C576-DBC1-8F23-2AC5-3D3B38DF0673}"/>
              </a:ext>
            </a:extLst>
          </p:cNvPr>
          <p:cNvSpPr txBox="1"/>
          <p:nvPr/>
        </p:nvSpPr>
        <p:spPr>
          <a:xfrm>
            <a:off x="1036838" y="2601687"/>
            <a:ext cx="10522040" cy="276999"/>
          </a:xfrm>
          <a:prstGeom prst="rect">
            <a:avLst/>
          </a:prstGeom>
          <a:noFill/>
        </p:spPr>
        <p:txBody>
          <a:bodyPr wrap="square">
            <a:spAutoFit/>
          </a:bodyPr>
          <a:lstStyle/>
          <a:p>
            <a:r>
              <a:rPr lang="es-CL" sz="1200" dirty="0">
                <a:latin typeface="Montserrat" panose="00000500000000000000" pitchFamily="2" charset="0"/>
              </a:rPr>
              <a:t>Se realiza un análisis descriptivo del </a:t>
            </a:r>
            <a:r>
              <a:rPr lang="es-CL" sz="1200" dirty="0" err="1">
                <a:latin typeface="Montserrat" panose="00000500000000000000" pitchFamily="2" charset="0"/>
              </a:rPr>
              <a:t>dataset</a:t>
            </a:r>
            <a:r>
              <a:rPr lang="es-CL" sz="1200" dirty="0">
                <a:latin typeface="Montserrat" panose="00000500000000000000" pitchFamily="2" charset="0"/>
              </a:rPr>
              <a:t>, identificando variables numéricas y categóricas.</a:t>
            </a:r>
            <a:endParaRPr lang="es-MX" sz="1200" b="1" dirty="0">
              <a:solidFill>
                <a:schemeClr val="tx1">
                  <a:lumMod val="65000"/>
                  <a:lumOff val="35000"/>
                </a:schemeClr>
              </a:solidFill>
              <a:latin typeface="Montserrat" panose="00000500000000000000" pitchFamily="2" charset="0"/>
            </a:endParaRPr>
          </a:p>
        </p:txBody>
      </p:sp>
      <p:sp>
        <p:nvSpPr>
          <p:cNvPr id="12" name="TextBox 11">
            <a:extLst>
              <a:ext uri="{FF2B5EF4-FFF2-40B4-BE49-F238E27FC236}">
                <a16:creationId xmlns:a16="http://schemas.microsoft.com/office/drawing/2014/main" id="{45939533-1677-D217-20BE-BDA627E5BA71}"/>
              </a:ext>
            </a:extLst>
          </p:cNvPr>
          <p:cNvSpPr txBox="1"/>
          <p:nvPr/>
        </p:nvSpPr>
        <p:spPr>
          <a:xfrm>
            <a:off x="1036838" y="4547926"/>
            <a:ext cx="11155161" cy="276999"/>
          </a:xfrm>
          <a:prstGeom prst="rect">
            <a:avLst/>
          </a:prstGeom>
          <a:noFill/>
        </p:spPr>
        <p:txBody>
          <a:bodyPr wrap="square" rtlCol="0">
            <a:spAutoFit/>
          </a:bodyPr>
          <a:lstStyle/>
          <a:p>
            <a:r>
              <a:rPr lang="es-CL" sz="1200" b="1" dirty="0">
                <a:latin typeface="Montserrat" panose="00000500000000000000" pitchFamily="2" charset="0"/>
              </a:rPr>
              <a:t>Validación de Datos: </a:t>
            </a:r>
            <a:r>
              <a:rPr lang="es-CL" sz="1200" dirty="0">
                <a:latin typeface="Montserrat" panose="00000500000000000000" pitchFamily="2" charset="0"/>
              </a:rPr>
              <a:t>La ejecución de </a:t>
            </a:r>
            <a:r>
              <a:rPr lang="es-CL" sz="1200" dirty="0" err="1">
                <a:latin typeface="Montserrat" panose="00000500000000000000" pitchFamily="2" charset="0"/>
              </a:rPr>
              <a:t>isnull</a:t>
            </a:r>
            <a:r>
              <a:rPr lang="es-CL" sz="1200" dirty="0">
                <a:latin typeface="Montserrat" panose="00000500000000000000" pitchFamily="2" charset="0"/>
              </a:rPr>
              <a:t>().sum() confirma la existencia de exactamente cero valores nulos en todo el </a:t>
            </a:r>
            <a:r>
              <a:rPr lang="es-CL" sz="1200" dirty="0" err="1">
                <a:latin typeface="Montserrat" panose="00000500000000000000" pitchFamily="2" charset="0"/>
              </a:rPr>
              <a:t>dataset</a:t>
            </a:r>
            <a:r>
              <a:rPr lang="es-CL" sz="1200" dirty="0">
                <a:latin typeface="Montserrat" panose="00000500000000000000" pitchFamily="2" charset="0"/>
              </a:rPr>
              <a:t>.</a:t>
            </a:r>
            <a:endParaRPr lang="es-CL" sz="1200" dirty="0">
              <a:solidFill>
                <a:schemeClr val="tx1">
                  <a:lumMod val="65000"/>
                  <a:lumOff val="35000"/>
                </a:schemeClr>
              </a:solidFill>
              <a:latin typeface="Montserrat" panose="00000500000000000000" pitchFamily="2" charset="0"/>
            </a:endParaRPr>
          </a:p>
        </p:txBody>
      </p:sp>
    </p:spTree>
    <p:extLst>
      <p:ext uri="{BB962C8B-B14F-4D97-AF65-F5344CB8AC3E}">
        <p14:creationId xmlns:p14="http://schemas.microsoft.com/office/powerpoint/2010/main" val="694121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BFBD3-6257-38CD-6286-2BD047493A3C}"/>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E774F596-F678-CC02-CB01-9925A1A519BF}"/>
              </a:ext>
            </a:extLst>
          </p:cNvPr>
          <p:cNvSpPr>
            <a:spLocks noGrp="1"/>
          </p:cNvSpPr>
          <p:nvPr>
            <p:ph type="body" sz="quarter" idx="10"/>
          </p:nvPr>
        </p:nvSpPr>
        <p:spPr/>
        <p:txBody>
          <a:bodyPr/>
          <a:lstStyle/>
          <a:p>
            <a:r>
              <a:rPr lang="es-CL" dirty="0"/>
              <a:t>Pregunta 1</a:t>
            </a:r>
          </a:p>
        </p:txBody>
      </p:sp>
      <p:sp>
        <p:nvSpPr>
          <p:cNvPr id="7" name="Text Placeholder 6">
            <a:extLst>
              <a:ext uri="{FF2B5EF4-FFF2-40B4-BE49-F238E27FC236}">
                <a16:creationId xmlns:a16="http://schemas.microsoft.com/office/drawing/2014/main" id="{740B55B6-85A8-A57D-4EE8-31637E745007}"/>
              </a:ext>
            </a:extLst>
          </p:cNvPr>
          <p:cNvSpPr>
            <a:spLocks noGrp="1"/>
          </p:cNvSpPr>
          <p:nvPr>
            <p:ph type="body" sz="quarter" idx="11"/>
          </p:nvPr>
        </p:nvSpPr>
        <p:spPr>
          <a:xfrm>
            <a:off x="3494092" y="332498"/>
            <a:ext cx="6908140" cy="699227"/>
          </a:xfrm>
        </p:spPr>
        <p:txBody>
          <a:bodyPr/>
          <a:lstStyle/>
          <a:p>
            <a:r>
              <a:rPr lang="es-MX" dirty="0"/>
              <a:t>¿Cómo se relaciona la frecuencia con que un estudiante levanta la mano en clases con su nivel de rendimiento (L/M/H)?</a:t>
            </a:r>
            <a:endParaRPr lang="es-CL" dirty="0"/>
          </a:p>
        </p:txBody>
      </p:sp>
      <p:graphicFrame>
        <p:nvGraphicFramePr>
          <p:cNvPr id="12" name="Table 11">
            <a:extLst>
              <a:ext uri="{FF2B5EF4-FFF2-40B4-BE49-F238E27FC236}">
                <a16:creationId xmlns:a16="http://schemas.microsoft.com/office/drawing/2014/main" id="{CCB1D204-4B05-9B18-6192-4E7778D09AF0}"/>
              </a:ext>
            </a:extLst>
          </p:cNvPr>
          <p:cNvGraphicFramePr>
            <a:graphicFrameLocks noGrp="1"/>
          </p:cNvGraphicFramePr>
          <p:nvPr>
            <p:extLst>
              <p:ext uri="{D42A27DB-BD31-4B8C-83A1-F6EECF244321}">
                <p14:modId xmlns:p14="http://schemas.microsoft.com/office/powerpoint/2010/main" val="2719394487"/>
              </p:ext>
            </p:extLst>
          </p:nvPr>
        </p:nvGraphicFramePr>
        <p:xfrm>
          <a:off x="505620" y="2552505"/>
          <a:ext cx="2288380" cy="1149544"/>
        </p:xfrm>
        <a:graphic>
          <a:graphicData uri="http://schemas.openxmlformats.org/drawingml/2006/table">
            <a:tbl>
              <a:tblPr firstRow="1" bandRow="1">
                <a:tableStyleId>{5C22544A-7EE6-4342-B048-85BDC9FD1C3A}</a:tableStyleId>
              </a:tblPr>
              <a:tblGrid>
                <a:gridCol w="1144190">
                  <a:extLst>
                    <a:ext uri="{9D8B030D-6E8A-4147-A177-3AD203B41FA5}">
                      <a16:colId xmlns:a16="http://schemas.microsoft.com/office/drawing/2014/main" val="314490558"/>
                    </a:ext>
                  </a:extLst>
                </a:gridCol>
                <a:gridCol w="1144190">
                  <a:extLst>
                    <a:ext uri="{9D8B030D-6E8A-4147-A177-3AD203B41FA5}">
                      <a16:colId xmlns:a16="http://schemas.microsoft.com/office/drawing/2014/main" val="531270667"/>
                    </a:ext>
                  </a:extLst>
                </a:gridCol>
              </a:tblGrid>
              <a:tr h="287386">
                <a:tc>
                  <a:txBody>
                    <a:bodyPr/>
                    <a:lstStyle/>
                    <a:p>
                      <a:r>
                        <a:rPr lang="es-CL" sz="1100" dirty="0">
                          <a:solidFill>
                            <a:schemeClr val="tx1">
                              <a:lumMod val="75000"/>
                              <a:lumOff val="25000"/>
                            </a:schemeClr>
                          </a:solidFill>
                        </a:rPr>
                        <a:t>Nivel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mean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1515247"/>
                  </a:ext>
                </a:extLst>
              </a:tr>
              <a:tr h="287386">
                <a:tc>
                  <a:txBody>
                    <a:bodyPr/>
                    <a:lstStyle/>
                    <a:p>
                      <a:r>
                        <a:rPr lang="es-CL" sz="1100" dirty="0">
                          <a:solidFill>
                            <a:schemeClr val="tx1">
                              <a:lumMod val="75000"/>
                              <a:lumOff val="25000"/>
                            </a:schemeClr>
                          </a:solidFill>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70.29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263286"/>
                  </a:ext>
                </a:extLst>
              </a:tr>
              <a:tr h="287386">
                <a:tc>
                  <a:txBody>
                    <a:bodyPr/>
                    <a:lstStyle/>
                    <a:p>
                      <a:r>
                        <a:rPr lang="es-CL" sz="1100" dirty="0">
                          <a:solidFill>
                            <a:schemeClr val="tx1">
                              <a:lumMod val="75000"/>
                              <a:lumOff val="25000"/>
                            </a:schemeClr>
                          </a:solidFil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48.94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4877452"/>
                  </a:ext>
                </a:extLst>
              </a:tr>
              <a:tr h="287386">
                <a:tc>
                  <a:txBody>
                    <a:bodyPr/>
                    <a:lstStyle/>
                    <a:p>
                      <a:r>
                        <a:rPr lang="es-CL" sz="1100" dirty="0">
                          <a:solidFill>
                            <a:schemeClr val="tx1">
                              <a:lumMod val="75000"/>
                              <a:lumOff val="25000"/>
                            </a:schemeClr>
                          </a:solidFill>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16.89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4674243"/>
                  </a:ext>
                </a:extLst>
              </a:tr>
            </a:tbl>
          </a:graphicData>
        </a:graphic>
      </p:graphicFrame>
      <p:sp>
        <p:nvSpPr>
          <p:cNvPr id="13" name="TextBox 12">
            <a:extLst>
              <a:ext uri="{FF2B5EF4-FFF2-40B4-BE49-F238E27FC236}">
                <a16:creationId xmlns:a16="http://schemas.microsoft.com/office/drawing/2014/main" id="{AA6A9D8A-2814-B777-E05E-AF9504B38443}"/>
              </a:ext>
            </a:extLst>
          </p:cNvPr>
          <p:cNvSpPr txBox="1"/>
          <p:nvPr/>
        </p:nvSpPr>
        <p:spPr>
          <a:xfrm>
            <a:off x="444500" y="1725380"/>
            <a:ext cx="2751142" cy="646331"/>
          </a:xfrm>
          <a:prstGeom prst="rect">
            <a:avLst/>
          </a:prstGeom>
          <a:noFill/>
        </p:spPr>
        <p:txBody>
          <a:bodyPr wrap="square" rtlCol="0">
            <a:spAutoFit/>
          </a:bodyPr>
          <a:lstStyle/>
          <a:p>
            <a:r>
              <a:rPr lang="es-CL" b="1" dirty="0">
                <a:solidFill>
                  <a:schemeClr val="bg1"/>
                </a:solidFill>
              </a:rPr>
              <a:t>Estadísticas por nivel de rendimiento</a:t>
            </a:r>
          </a:p>
        </p:txBody>
      </p:sp>
      <p:sp>
        <p:nvSpPr>
          <p:cNvPr id="15" name="TextBox 14">
            <a:extLst>
              <a:ext uri="{FF2B5EF4-FFF2-40B4-BE49-F238E27FC236}">
                <a16:creationId xmlns:a16="http://schemas.microsoft.com/office/drawing/2014/main" id="{0CF938C8-AE4C-2788-FBCB-AF6057A1E766}"/>
              </a:ext>
            </a:extLst>
          </p:cNvPr>
          <p:cNvSpPr txBox="1"/>
          <p:nvPr/>
        </p:nvSpPr>
        <p:spPr>
          <a:xfrm>
            <a:off x="444505" y="3847017"/>
            <a:ext cx="3049587" cy="1661993"/>
          </a:xfrm>
          <a:prstGeom prst="rect">
            <a:avLst/>
          </a:prstGeom>
          <a:noFill/>
        </p:spPr>
        <p:txBody>
          <a:bodyPr wrap="square">
            <a:spAutoFit/>
          </a:bodyPr>
          <a:lstStyle/>
          <a:p>
            <a:pPr algn="just"/>
            <a:r>
              <a:rPr lang="es-CL" sz="1200" b="1" dirty="0">
                <a:solidFill>
                  <a:schemeClr val="bg1"/>
                </a:solidFill>
              </a:rPr>
              <a:t>Correlación</a:t>
            </a:r>
          </a:p>
          <a:p>
            <a:pPr algn="just"/>
            <a:endParaRPr lang="es-CL" sz="1200" dirty="0">
              <a:solidFill>
                <a:schemeClr val="bg1"/>
              </a:solidFill>
            </a:endParaRPr>
          </a:p>
          <a:p>
            <a:pPr algn="just"/>
            <a:r>
              <a:rPr lang="es-CL" sz="1200" dirty="0">
                <a:solidFill>
                  <a:schemeClr val="bg1"/>
                </a:solidFill>
              </a:rPr>
              <a:t>La correlación entre </a:t>
            </a:r>
            <a:r>
              <a:rPr lang="es-CL" sz="1200" dirty="0" err="1">
                <a:solidFill>
                  <a:schemeClr val="bg1"/>
                </a:solidFill>
              </a:rPr>
              <a:t>raisedhands</a:t>
            </a:r>
            <a:r>
              <a:rPr lang="es-CL" sz="1200" dirty="0">
                <a:solidFill>
                  <a:schemeClr val="bg1"/>
                </a:solidFill>
              </a:rPr>
              <a:t> y el rendimiento es de 0.646, lo que indica una relación moderada-alta y positiva, a mayor participación en clases, mayor es el nivel académico.</a:t>
            </a:r>
          </a:p>
          <a:p>
            <a:pPr algn="just"/>
            <a:endParaRPr lang="es-CL" dirty="0">
              <a:solidFill>
                <a:schemeClr val="bg1"/>
              </a:solidFill>
            </a:endParaRPr>
          </a:p>
        </p:txBody>
      </p:sp>
      <p:sp>
        <p:nvSpPr>
          <p:cNvPr id="3" name="TextBox 2">
            <a:extLst>
              <a:ext uri="{FF2B5EF4-FFF2-40B4-BE49-F238E27FC236}">
                <a16:creationId xmlns:a16="http://schemas.microsoft.com/office/drawing/2014/main" id="{2E299F76-D450-A444-4594-E903F35C6AEC}"/>
              </a:ext>
            </a:extLst>
          </p:cNvPr>
          <p:cNvSpPr txBox="1"/>
          <p:nvPr/>
        </p:nvSpPr>
        <p:spPr>
          <a:xfrm>
            <a:off x="4868678" y="5410776"/>
            <a:ext cx="6099174" cy="1169103"/>
          </a:xfrm>
          <a:prstGeom prst="rect">
            <a:avLst/>
          </a:prstGeom>
          <a:noFill/>
        </p:spPr>
        <p:txBody>
          <a:bodyPr wrap="square">
            <a:spAutoFit/>
          </a:bodyPr>
          <a:lstStyle/>
          <a:p>
            <a:pPr algn="just">
              <a:lnSpc>
                <a:spcPct val="150000"/>
              </a:lnSpc>
            </a:pPr>
            <a:r>
              <a:rPr lang="es-MX" sz="1200" b="1" dirty="0">
                <a:latin typeface="Montserrat" panose="00000500000000000000" pitchFamily="2" charset="0"/>
              </a:rPr>
              <a:t>Conclusión: </a:t>
            </a:r>
            <a:r>
              <a:rPr lang="es-MX" sz="1200" dirty="0">
                <a:latin typeface="Montserrat" panose="00000500000000000000" pitchFamily="2" charset="0"/>
              </a:rPr>
              <a:t>Existe una relación directa entre la participación en clases y el rendimiento académico. Los estudiantes de nivel Alto participan en promedio más que los de nivel Bajo (70.29 vs 16.89), lo que indica que la participación en clases esta asociado a un mejor rendimiento académico.</a:t>
            </a:r>
            <a:endParaRPr lang="es-CL" sz="1200" dirty="0">
              <a:latin typeface="Montserrat" panose="00000500000000000000" pitchFamily="2" charset="0"/>
            </a:endParaRPr>
          </a:p>
        </p:txBody>
      </p:sp>
      <p:pic>
        <p:nvPicPr>
          <p:cNvPr id="5" name="Picture 4">
            <a:extLst>
              <a:ext uri="{FF2B5EF4-FFF2-40B4-BE49-F238E27FC236}">
                <a16:creationId xmlns:a16="http://schemas.microsoft.com/office/drawing/2014/main" id="{EA6D5544-6288-BB71-F314-9CC9AF77DBAE}"/>
              </a:ext>
            </a:extLst>
          </p:cNvPr>
          <p:cNvPicPr>
            <a:picLocks noChangeAspect="1"/>
          </p:cNvPicPr>
          <p:nvPr/>
        </p:nvPicPr>
        <p:blipFill>
          <a:blip r:embed="rId2"/>
          <a:stretch>
            <a:fillRect/>
          </a:stretch>
        </p:blipFill>
        <p:spPr>
          <a:xfrm>
            <a:off x="4843278" y="1649115"/>
            <a:ext cx="6302743" cy="3559770"/>
          </a:xfrm>
          <a:prstGeom prst="rect">
            <a:avLst/>
          </a:prstGeom>
        </p:spPr>
      </p:pic>
    </p:spTree>
    <p:extLst>
      <p:ext uri="{BB962C8B-B14F-4D97-AF65-F5344CB8AC3E}">
        <p14:creationId xmlns:p14="http://schemas.microsoft.com/office/powerpoint/2010/main" val="1956517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4657A70-B7D9-E162-21AF-FE89C92ADC34}"/>
              </a:ext>
            </a:extLst>
          </p:cNvPr>
          <p:cNvSpPr>
            <a:spLocks noGrp="1"/>
          </p:cNvSpPr>
          <p:nvPr>
            <p:ph type="body" sz="quarter" idx="10"/>
          </p:nvPr>
        </p:nvSpPr>
        <p:spPr/>
        <p:txBody>
          <a:bodyPr/>
          <a:lstStyle/>
          <a:p>
            <a:r>
              <a:rPr lang="es-CL" dirty="0"/>
              <a:t>Pregunta 2</a:t>
            </a:r>
          </a:p>
        </p:txBody>
      </p:sp>
      <p:sp>
        <p:nvSpPr>
          <p:cNvPr id="7" name="Text Placeholder 6">
            <a:extLst>
              <a:ext uri="{FF2B5EF4-FFF2-40B4-BE49-F238E27FC236}">
                <a16:creationId xmlns:a16="http://schemas.microsoft.com/office/drawing/2014/main" id="{E252C160-9A5B-0DFB-8125-25570640D72F}"/>
              </a:ext>
            </a:extLst>
          </p:cNvPr>
          <p:cNvSpPr>
            <a:spLocks noGrp="1"/>
          </p:cNvSpPr>
          <p:nvPr>
            <p:ph type="body" sz="quarter" idx="11"/>
          </p:nvPr>
        </p:nvSpPr>
        <p:spPr>
          <a:xfrm>
            <a:off x="3494092" y="332498"/>
            <a:ext cx="6908140" cy="699227"/>
          </a:xfrm>
        </p:spPr>
        <p:txBody>
          <a:bodyPr/>
          <a:lstStyle/>
          <a:p>
            <a:r>
              <a:rPr lang="es-CL" dirty="0"/>
              <a:t>¿Existe diferencia en el acceso a recursos entre estudiantes con nivel alto vs. bajo rendimiento?</a:t>
            </a:r>
          </a:p>
        </p:txBody>
      </p:sp>
      <p:graphicFrame>
        <p:nvGraphicFramePr>
          <p:cNvPr id="12" name="Table 11">
            <a:extLst>
              <a:ext uri="{FF2B5EF4-FFF2-40B4-BE49-F238E27FC236}">
                <a16:creationId xmlns:a16="http://schemas.microsoft.com/office/drawing/2014/main" id="{FF6B2798-4458-E533-C8FD-BCB29E0CE0C7}"/>
              </a:ext>
            </a:extLst>
          </p:cNvPr>
          <p:cNvGraphicFramePr>
            <a:graphicFrameLocks noGrp="1"/>
          </p:cNvGraphicFramePr>
          <p:nvPr>
            <p:extLst>
              <p:ext uri="{D42A27DB-BD31-4B8C-83A1-F6EECF244321}">
                <p14:modId xmlns:p14="http://schemas.microsoft.com/office/powerpoint/2010/main" val="2312622135"/>
              </p:ext>
            </p:extLst>
          </p:nvPr>
        </p:nvGraphicFramePr>
        <p:xfrm>
          <a:off x="444500" y="2552505"/>
          <a:ext cx="3049592" cy="1149544"/>
        </p:xfrm>
        <a:graphic>
          <a:graphicData uri="http://schemas.openxmlformats.org/drawingml/2006/table">
            <a:tbl>
              <a:tblPr firstRow="1" bandRow="1">
                <a:tableStyleId>{5C22544A-7EE6-4342-B048-85BDC9FD1C3A}</a:tableStyleId>
              </a:tblPr>
              <a:tblGrid>
                <a:gridCol w="762398">
                  <a:extLst>
                    <a:ext uri="{9D8B030D-6E8A-4147-A177-3AD203B41FA5}">
                      <a16:colId xmlns:a16="http://schemas.microsoft.com/office/drawing/2014/main" val="314490558"/>
                    </a:ext>
                  </a:extLst>
                </a:gridCol>
                <a:gridCol w="762398">
                  <a:extLst>
                    <a:ext uri="{9D8B030D-6E8A-4147-A177-3AD203B41FA5}">
                      <a16:colId xmlns:a16="http://schemas.microsoft.com/office/drawing/2014/main" val="531270667"/>
                    </a:ext>
                  </a:extLst>
                </a:gridCol>
                <a:gridCol w="762398">
                  <a:extLst>
                    <a:ext uri="{9D8B030D-6E8A-4147-A177-3AD203B41FA5}">
                      <a16:colId xmlns:a16="http://schemas.microsoft.com/office/drawing/2014/main" val="752052398"/>
                    </a:ext>
                  </a:extLst>
                </a:gridCol>
                <a:gridCol w="762398">
                  <a:extLst>
                    <a:ext uri="{9D8B030D-6E8A-4147-A177-3AD203B41FA5}">
                      <a16:colId xmlns:a16="http://schemas.microsoft.com/office/drawing/2014/main" val="2532590432"/>
                    </a:ext>
                  </a:extLst>
                </a:gridCol>
              </a:tblGrid>
              <a:tr h="287386">
                <a:tc>
                  <a:txBody>
                    <a:bodyPr/>
                    <a:lstStyle/>
                    <a:p>
                      <a:r>
                        <a:rPr lang="es-CL" sz="1100" dirty="0">
                          <a:solidFill>
                            <a:schemeClr val="tx1">
                              <a:lumMod val="75000"/>
                              <a:lumOff val="25000"/>
                            </a:schemeClr>
                          </a:solidFill>
                        </a:rPr>
                        <a:t>Nivel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mean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1515247"/>
                  </a:ext>
                </a:extLst>
              </a:tr>
              <a:tr h="287386">
                <a:tc>
                  <a:txBody>
                    <a:bodyPr/>
                    <a:lstStyle/>
                    <a:p>
                      <a:r>
                        <a:rPr lang="es-CL" sz="1100" dirty="0">
                          <a:solidFill>
                            <a:schemeClr val="tx1">
                              <a:lumMod val="75000"/>
                              <a:lumOff val="25000"/>
                            </a:schemeClr>
                          </a:solidFill>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78.74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71.25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90.75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263286"/>
                  </a:ext>
                </a:extLst>
              </a:tr>
              <a:tr h="287386">
                <a:tc>
                  <a:txBody>
                    <a:bodyPr/>
                    <a:lstStyle/>
                    <a:p>
                      <a:r>
                        <a:rPr lang="es-CL" sz="1100" dirty="0">
                          <a:solidFill>
                            <a:schemeClr val="tx1">
                              <a:lumMod val="75000"/>
                              <a:lumOff val="25000"/>
                            </a:schemeClr>
                          </a:solidFil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60.63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82.5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4877452"/>
                  </a:ext>
                </a:extLst>
              </a:tr>
              <a:tr h="287386">
                <a:tc>
                  <a:txBody>
                    <a:bodyPr/>
                    <a:lstStyle/>
                    <a:p>
                      <a:r>
                        <a:rPr lang="es-CL" sz="1100" dirty="0">
                          <a:solidFill>
                            <a:schemeClr val="tx1">
                              <a:lumMod val="75000"/>
                              <a:lumOff val="25000"/>
                            </a:schemeClr>
                          </a:solidFill>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18.32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23.0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64674243"/>
                  </a:ext>
                </a:extLst>
              </a:tr>
            </a:tbl>
          </a:graphicData>
        </a:graphic>
      </p:graphicFrame>
      <p:sp>
        <p:nvSpPr>
          <p:cNvPr id="13" name="TextBox 12">
            <a:extLst>
              <a:ext uri="{FF2B5EF4-FFF2-40B4-BE49-F238E27FC236}">
                <a16:creationId xmlns:a16="http://schemas.microsoft.com/office/drawing/2014/main" id="{932515CF-6C85-7B5D-3384-5801897E4C37}"/>
              </a:ext>
            </a:extLst>
          </p:cNvPr>
          <p:cNvSpPr txBox="1"/>
          <p:nvPr/>
        </p:nvSpPr>
        <p:spPr>
          <a:xfrm>
            <a:off x="444500" y="1725380"/>
            <a:ext cx="2751142" cy="646331"/>
          </a:xfrm>
          <a:prstGeom prst="rect">
            <a:avLst/>
          </a:prstGeom>
          <a:noFill/>
        </p:spPr>
        <p:txBody>
          <a:bodyPr wrap="square" rtlCol="0">
            <a:spAutoFit/>
          </a:bodyPr>
          <a:lstStyle/>
          <a:p>
            <a:r>
              <a:rPr lang="es-CL" b="1" dirty="0">
                <a:solidFill>
                  <a:schemeClr val="bg1"/>
                </a:solidFill>
              </a:rPr>
              <a:t>Estadísticas por nivel de rendimiento</a:t>
            </a:r>
          </a:p>
        </p:txBody>
      </p:sp>
      <p:sp>
        <p:nvSpPr>
          <p:cNvPr id="23" name="TextBox 22">
            <a:extLst>
              <a:ext uri="{FF2B5EF4-FFF2-40B4-BE49-F238E27FC236}">
                <a16:creationId xmlns:a16="http://schemas.microsoft.com/office/drawing/2014/main" id="{79376FE9-9E68-2F41-19ED-2548CB0AFABB}"/>
              </a:ext>
            </a:extLst>
          </p:cNvPr>
          <p:cNvSpPr txBox="1"/>
          <p:nvPr/>
        </p:nvSpPr>
        <p:spPr>
          <a:xfrm>
            <a:off x="444500" y="3882843"/>
            <a:ext cx="2628900" cy="2277098"/>
          </a:xfrm>
          <a:prstGeom prst="rect">
            <a:avLst/>
          </a:prstGeom>
          <a:noFill/>
        </p:spPr>
        <p:txBody>
          <a:bodyPr wrap="square">
            <a:spAutoFit/>
          </a:bodyPr>
          <a:lstStyle/>
          <a:p>
            <a:pPr algn="just">
              <a:lnSpc>
                <a:spcPct val="150000"/>
              </a:lnSpc>
            </a:pPr>
            <a:r>
              <a:rPr lang="es-MX" sz="1200" b="1" dirty="0">
                <a:solidFill>
                  <a:schemeClr val="bg1"/>
                </a:solidFill>
                <a:latin typeface="Montserrat" panose="00000500000000000000" pitchFamily="2" charset="0"/>
              </a:rPr>
              <a:t>Valores atípicos</a:t>
            </a:r>
          </a:p>
          <a:p>
            <a:pPr algn="just">
              <a:lnSpc>
                <a:spcPct val="150000"/>
              </a:lnSpc>
            </a:pPr>
            <a:r>
              <a:rPr lang="es-MX" sz="1200" b="1" dirty="0">
                <a:solidFill>
                  <a:schemeClr val="bg1"/>
                </a:solidFill>
                <a:latin typeface="Montserrat" panose="00000500000000000000" pitchFamily="2" charset="0"/>
              </a:rPr>
              <a:t>Nivel L: </a:t>
            </a:r>
            <a:r>
              <a:rPr lang="es-MX" sz="1200" dirty="0">
                <a:solidFill>
                  <a:schemeClr val="bg1"/>
                </a:solidFill>
                <a:latin typeface="Montserrat" panose="00000500000000000000" pitchFamily="2" charset="0"/>
              </a:rPr>
              <a:t>atípicos hacia arriba indicando que accedieron a más recursos de lo esperado.</a:t>
            </a:r>
          </a:p>
          <a:p>
            <a:pPr algn="just">
              <a:lnSpc>
                <a:spcPct val="150000"/>
              </a:lnSpc>
            </a:pPr>
            <a:endParaRPr lang="es-MX" sz="1200" b="1" dirty="0">
              <a:solidFill>
                <a:schemeClr val="bg1"/>
              </a:solidFill>
              <a:latin typeface="Montserrat" panose="00000500000000000000" pitchFamily="2" charset="0"/>
            </a:endParaRPr>
          </a:p>
          <a:p>
            <a:pPr algn="just">
              <a:lnSpc>
                <a:spcPct val="150000"/>
              </a:lnSpc>
            </a:pPr>
            <a:r>
              <a:rPr lang="es-MX" sz="1200" b="1" dirty="0">
                <a:solidFill>
                  <a:schemeClr val="bg1"/>
                </a:solidFill>
                <a:latin typeface="Montserrat" panose="00000500000000000000" pitchFamily="2" charset="0"/>
              </a:rPr>
              <a:t>Nivel H: </a:t>
            </a:r>
            <a:r>
              <a:rPr lang="es-MX" sz="1200" dirty="0">
                <a:solidFill>
                  <a:schemeClr val="bg1"/>
                </a:solidFill>
                <a:latin typeface="Montserrat" panose="00000500000000000000" pitchFamily="2" charset="0"/>
              </a:rPr>
              <a:t>atípicos hacia abajo indicando que accedieron a menos recursos de lo esperado.</a:t>
            </a:r>
            <a:endParaRPr lang="es-CL" sz="1200" dirty="0">
              <a:solidFill>
                <a:schemeClr val="bg1"/>
              </a:solidFill>
              <a:latin typeface="Montserrat" panose="00000500000000000000" pitchFamily="2" charset="0"/>
            </a:endParaRPr>
          </a:p>
        </p:txBody>
      </p:sp>
      <p:sp>
        <p:nvSpPr>
          <p:cNvPr id="29" name="TextBox 28">
            <a:extLst>
              <a:ext uri="{FF2B5EF4-FFF2-40B4-BE49-F238E27FC236}">
                <a16:creationId xmlns:a16="http://schemas.microsoft.com/office/drawing/2014/main" id="{D69CE2AF-444B-D6CC-2C61-980A96095DD2}"/>
              </a:ext>
            </a:extLst>
          </p:cNvPr>
          <p:cNvSpPr txBox="1"/>
          <p:nvPr/>
        </p:nvSpPr>
        <p:spPr>
          <a:xfrm>
            <a:off x="4389126" y="5498670"/>
            <a:ext cx="6099174" cy="892104"/>
          </a:xfrm>
          <a:prstGeom prst="rect">
            <a:avLst/>
          </a:prstGeom>
          <a:noFill/>
        </p:spPr>
        <p:txBody>
          <a:bodyPr wrap="square">
            <a:spAutoFit/>
          </a:bodyPr>
          <a:lstStyle/>
          <a:p>
            <a:pPr algn="just">
              <a:lnSpc>
                <a:spcPct val="150000"/>
              </a:lnSpc>
            </a:pPr>
            <a:r>
              <a:rPr lang="es-MX" sz="1200" b="1" dirty="0">
                <a:latin typeface="Montserrat" panose="00000500000000000000" pitchFamily="2" charset="0"/>
              </a:rPr>
              <a:t>Conclusión: </a:t>
            </a:r>
            <a:r>
              <a:rPr lang="es-CL" sz="1200" dirty="0">
                <a:latin typeface="Montserrat" panose="00000500000000000000" pitchFamily="2" charset="0"/>
              </a:rPr>
              <a:t>La diferencia entre ambos grupos es clara los estudiantes de nivel Alto acceden en promedio a más recursos que los de nivel Bajo (78.75 vs 18.32).</a:t>
            </a:r>
            <a:endParaRPr lang="es-MX" sz="1200" dirty="0">
              <a:latin typeface="Montserrat" panose="00000500000000000000" pitchFamily="2" charset="0"/>
            </a:endParaRPr>
          </a:p>
        </p:txBody>
      </p:sp>
      <p:pic>
        <p:nvPicPr>
          <p:cNvPr id="31" name="Picture 30">
            <a:extLst>
              <a:ext uri="{FF2B5EF4-FFF2-40B4-BE49-F238E27FC236}">
                <a16:creationId xmlns:a16="http://schemas.microsoft.com/office/drawing/2014/main" id="{D77E6791-53CC-AB58-0769-2722218F4C0A}"/>
              </a:ext>
            </a:extLst>
          </p:cNvPr>
          <p:cNvPicPr>
            <a:picLocks noChangeAspect="1"/>
          </p:cNvPicPr>
          <p:nvPr/>
        </p:nvPicPr>
        <p:blipFill>
          <a:blip r:embed="rId2"/>
          <a:stretch>
            <a:fillRect/>
          </a:stretch>
        </p:blipFill>
        <p:spPr>
          <a:xfrm>
            <a:off x="4389126" y="1649115"/>
            <a:ext cx="6296647" cy="3559770"/>
          </a:xfrm>
          <a:prstGeom prst="rect">
            <a:avLst/>
          </a:prstGeom>
        </p:spPr>
      </p:pic>
    </p:spTree>
    <p:extLst>
      <p:ext uri="{BB962C8B-B14F-4D97-AF65-F5344CB8AC3E}">
        <p14:creationId xmlns:p14="http://schemas.microsoft.com/office/powerpoint/2010/main" val="2925030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91F15-DA16-4F2E-D969-150D33D9E79A}"/>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5D4A8D09-D66F-6513-6FD1-1088CE0580DC}"/>
              </a:ext>
            </a:extLst>
          </p:cNvPr>
          <p:cNvSpPr>
            <a:spLocks noGrp="1"/>
          </p:cNvSpPr>
          <p:nvPr>
            <p:ph type="body" sz="quarter" idx="10"/>
          </p:nvPr>
        </p:nvSpPr>
        <p:spPr/>
        <p:txBody>
          <a:bodyPr/>
          <a:lstStyle/>
          <a:p>
            <a:r>
              <a:rPr lang="es-CL" dirty="0"/>
              <a:t>Pregunta 3</a:t>
            </a:r>
          </a:p>
        </p:txBody>
      </p:sp>
      <p:sp>
        <p:nvSpPr>
          <p:cNvPr id="7" name="Text Placeholder 6">
            <a:extLst>
              <a:ext uri="{FF2B5EF4-FFF2-40B4-BE49-F238E27FC236}">
                <a16:creationId xmlns:a16="http://schemas.microsoft.com/office/drawing/2014/main" id="{E46AD412-54DD-F5C0-3816-372653D6B4D6}"/>
              </a:ext>
            </a:extLst>
          </p:cNvPr>
          <p:cNvSpPr>
            <a:spLocks noGrp="1"/>
          </p:cNvSpPr>
          <p:nvPr>
            <p:ph type="body" sz="quarter" idx="11"/>
          </p:nvPr>
        </p:nvSpPr>
        <p:spPr>
          <a:xfrm>
            <a:off x="3494092" y="332498"/>
            <a:ext cx="6908140" cy="699227"/>
          </a:xfrm>
        </p:spPr>
        <p:txBody>
          <a:bodyPr/>
          <a:lstStyle/>
          <a:p>
            <a:r>
              <a:rPr lang="es-CL" dirty="0"/>
              <a:t>¿Cómo influyen las ausencias (Under-7 vs. Above-7) en el rendimiento académico final?</a:t>
            </a:r>
          </a:p>
        </p:txBody>
      </p:sp>
      <p:graphicFrame>
        <p:nvGraphicFramePr>
          <p:cNvPr id="12" name="Table 11">
            <a:extLst>
              <a:ext uri="{FF2B5EF4-FFF2-40B4-BE49-F238E27FC236}">
                <a16:creationId xmlns:a16="http://schemas.microsoft.com/office/drawing/2014/main" id="{4232A983-D38F-DD24-785A-5CD63E49CD84}"/>
              </a:ext>
            </a:extLst>
          </p:cNvPr>
          <p:cNvGraphicFramePr>
            <a:graphicFrameLocks noGrp="1"/>
          </p:cNvGraphicFramePr>
          <p:nvPr>
            <p:extLst>
              <p:ext uri="{D42A27DB-BD31-4B8C-83A1-F6EECF244321}">
                <p14:modId xmlns:p14="http://schemas.microsoft.com/office/powerpoint/2010/main" val="3633487001"/>
              </p:ext>
            </p:extLst>
          </p:nvPr>
        </p:nvGraphicFramePr>
        <p:xfrm>
          <a:off x="545704" y="2407469"/>
          <a:ext cx="2751140" cy="798462"/>
        </p:xfrm>
        <a:graphic>
          <a:graphicData uri="http://schemas.openxmlformats.org/drawingml/2006/table">
            <a:tbl>
              <a:tblPr firstRow="1" bandRow="1">
                <a:tableStyleId>{5C22544A-7EE6-4342-B048-85BDC9FD1C3A}</a:tableStyleId>
              </a:tblPr>
              <a:tblGrid>
                <a:gridCol w="687785">
                  <a:extLst>
                    <a:ext uri="{9D8B030D-6E8A-4147-A177-3AD203B41FA5}">
                      <a16:colId xmlns:a16="http://schemas.microsoft.com/office/drawing/2014/main" val="314490558"/>
                    </a:ext>
                  </a:extLst>
                </a:gridCol>
                <a:gridCol w="687785">
                  <a:extLst>
                    <a:ext uri="{9D8B030D-6E8A-4147-A177-3AD203B41FA5}">
                      <a16:colId xmlns:a16="http://schemas.microsoft.com/office/drawing/2014/main" val="531270667"/>
                    </a:ext>
                  </a:extLst>
                </a:gridCol>
                <a:gridCol w="687785">
                  <a:extLst>
                    <a:ext uri="{9D8B030D-6E8A-4147-A177-3AD203B41FA5}">
                      <a16:colId xmlns:a16="http://schemas.microsoft.com/office/drawing/2014/main" val="752052398"/>
                    </a:ext>
                  </a:extLst>
                </a:gridCol>
                <a:gridCol w="687785">
                  <a:extLst>
                    <a:ext uri="{9D8B030D-6E8A-4147-A177-3AD203B41FA5}">
                      <a16:colId xmlns:a16="http://schemas.microsoft.com/office/drawing/2014/main" val="2532590432"/>
                    </a:ext>
                  </a:extLst>
                </a:gridCol>
              </a:tblGrid>
              <a:tr h="266154">
                <a:tc>
                  <a:txBody>
                    <a:bodyPr/>
                    <a:lstStyle/>
                    <a:p>
                      <a:endParaRPr lang="es-CL" sz="1100" dirty="0">
                        <a:solidFill>
                          <a:schemeClr val="tx1">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1515247"/>
                  </a:ext>
                </a:extLst>
              </a:tr>
              <a:tr h="266154">
                <a:tc>
                  <a:txBody>
                    <a:bodyPr/>
                    <a:lstStyle/>
                    <a:p>
                      <a:r>
                        <a:rPr lang="es-CL" sz="1100" dirty="0">
                          <a:solidFill>
                            <a:schemeClr val="tx1">
                              <a:lumMod val="75000"/>
                              <a:lumOff val="25000"/>
                            </a:schemeClr>
                          </a:solidFill>
                        </a:rPr>
                        <a:t>Above-7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0.021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0.372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0.607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263286"/>
                  </a:ext>
                </a:extLst>
              </a:tr>
              <a:tr h="266154">
                <a:tc>
                  <a:txBody>
                    <a:bodyPr/>
                    <a:lstStyle/>
                    <a:p>
                      <a:r>
                        <a:rPr lang="es-CL" sz="1100" dirty="0">
                          <a:solidFill>
                            <a:schemeClr val="tx1">
                              <a:lumMod val="75000"/>
                              <a:lumOff val="25000"/>
                            </a:schemeClr>
                          </a:solidFill>
                        </a:rPr>
                        <a:t>Under-7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0.478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0.484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0.038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4877452"/>
                  </a:ext>
                </a:extLst>
              </a:tr>
            </a:tbl>
          </a:graphicData>
        </a:graphic>
      </p:graphicFrame>
      <p:sp>
        <p:nvSpPr>
          <p:cNvPr id="13" name="TextBox 12">
            <a:extLst>
              <a:ext uri="{FF2B5EF4-FFF2-40B4-BE49-F238E27FC236}">
                <a16:creationId xmlns:a16="http://schemas.microsoft.com/office/drawing/2014/main" id="{480CC901-706A-AFC4-1803-A73E711E3ACE}"/>
              </a:ext>
            </a:extLst>
          </p:cNvPr>
          <p:cNvSpPr txBox="1"/>
          <p:nvPr/>
        </p:nvSpPr>
        <p:spPr>
          <a:xfrm>
            <a:off x="444500" y="1725380"/>
            <a:ext cx="2751142" cy="646331"/>
          </a:xfrm>
          <a:prstGeom prst="rect">
            <a:avLst/>
          </a:prstGeom>
          <a:noFill/>
        </p:spPr>
        <p:txBody>
          <a:bodyPr wrap="square" rtlCol="0">
            <a:spAutoFit/>
          </a:bodyPr>
          <a:lstStyle/>
          <a:p>
            <a:r>
              <a:rPr lang="es-CL" b="1" dirty="0">
                <a:solidFill>
                  <a:schemeClr val="bg1"/>
                </a:solidFill>
              </a:rPr>
              <a:t>Estadísticas por nivel de rendimiento</a:t>
            </a:r>
          </a:p>
        </p:txBody>
      </p:sp>
      <p:sp>
        <p:nvSpPr>
          <p:cNvPr id="15" name="TextBox 14">
            <a:extLst>
              <a:ext uri="{FF2B5EF4-FFF2-40B4-BE49-F238E27FC236}">
                <a16:creationId xmlns:a16="http://schemas.microsoft.com/office/drawing/2014/main" id="{100F7429-DECB-36BB-96BB-D784B8DA25DF}"/>
              </a:ext>
            </a:extLst>
          </p:cNvPr>
          <p:cNvSpPr txBox="1"/>
          <p:nvPr/>
        </p:nvSpPr>
        <p:spPr>
          <a:xfrm>
            <a:off x="444505" y="4390418"/>
            <a:ext cx="3049587" cy="894732"/>
          </a:xfrm>
          <a:prstGeom prst="rect">
            <a:avLst/>
          </a:prstGeom>
          <a:noFill/>
        </p:spPr>
        <p:txBody>
          <a:bodyPr wrap="square">
            <a:spAutoFit/>
          </a:bodyPr>
          <a:lstStyle/>
          <a:p>
            <a:pPr algn="just">
              <a:lnSpc>
                <a:spcPct val="150000"/>
              </a:lnSpc>
            </a:pPr>
            <a:r>
              <a:rPr lang="es-CL" sz="1200" b="1" dirty="0">
                <a:solidFill>
                  <a:schemeClr val="bg1"/>
                </a:solidFill>
              </a:rPr>
              <a:t>Con más de 7 ausencias: </a:t>
            </a:r>
            <a:r>
              <a:rPr lang="es-CL" sz="1200" dirty="0">
                <a:solidFill>
                  <a:schemeClr val="bg1"/>
                </a:solidFill>
              </a:rPr>
              <a:t>el 60.7% obtiene rendimiento bajo y solo el 2.1% obtiene rendimiento alto.</a:t>
            </a:r>
          </a:p>
        </p:txBody>
      </p:sp>
      <p:graphicFrame>
        <p:nvGraphicFramePr>
          <p:cNvPr id="3" name="Table 2">
            <a:extLst>
              <a:ext uri="{FF2B5EF4-FFF2-40B4-BE49-F238E27FC236}">
                <a16:creationId xmlns:a16="http://schemas.microsoft.com/office/drawing/2014/main" id="{52C75EF8-2444-530B-276A-85EFA400713E}"/>
              </a:ext>
            </a:extLst>
          </p:cNvPr>
          <p:cNvGraphicFramePr>
            <a:graphicFrameLocks noGrp="1"/>
          </p:cNvGraphicFramePr>
          <p:nvPr>
            <p:extLst>
              <p:ext uri="{D42A27DB-BD31-4B8C-83A1-F6EECF244321}">
                <p14:modId xmlns:p14="http://schemas.microsoft.com/office/powerpoint/2010/main" val="3651253302"/>
              </p:ext>
            </p:extLst>
          </p:nvPr>
        </p:nvGraphicFramePr>
        <p:xfrm>
          <a:off x="505620" y="3429000"/>
          <a:ext cx="2791224" cy="894732"/>
        </p:xfrm>
        <a:graphic>
          <a:graphicData uri="http://schemas.openxmlformats.org/drawingml/2006/table">
            <a:tbl>
              <a:tblPr firstRow="1" bandRow="1">
                <a:tableStyleId>{5C22544A-7EE6-4342-B048-85BDC9FD1C3A}</a:tableStyleId>
              </a:tblPr>
              <a:tblGrid>
                <a:gridCol w="697806">
                  <a:extLst>
                    <a:ext uri="{9D8B030D-6E8A-4147-A177-3AD203B41FA5}">
                      <a16:colId xmlns:a16="http://schemas.microsoft.com/office/drawing/2014/main" val="314490558"/>
                    </a:ext>
                  </a:extLst>
                </a:gridCol>
                <a:gridCol w="697806">
                  <a:extLst>
                    <a:ext uri="{9D8B030D-6E8A-4147-A177-3AD203B41FA5}">
                      <a16:colId xmlns:a16="http://schemas.microsoft.com/office/drawing/2014/main" val="531270667"/>
                    </a:ext>
                  </a:extLst>
                </a:gridCol>
                <a:gridCol w="697806">
                  <a:extLst>
                    <a:ext uri="{9D8B030D-6E8A-4147-A177-3AD203B41FA5}">
                      <a16:colId xmlns:a16="http://schemas.microsoft.com/office/drawing/2014/main" val="752052398"/>
                    </a:ext>
                  </a:extLst>
                </a:gridCol>
                <a:gridCol w="697806">
                  <a:extLst>
                    <a:ext uri="{9D8B030D-6E8A-4147-A177-3AD203B41FA5}">
                      <a16:colId xmlns:a16="http://schemas.microsoft.com/office/drawing/2014/main" val="2532590432"/>
                    </a:ext>
                  </a:extLst>
                </a:gridCol>
              </a:tblGrid>
              <a:tr h="298244">
                <a:tc>
                  <a:txBody>
                    <a:bodyPr/>
                    <a:lstStyle/>
                    <a:p>
                      <a:endParaRPr lang="es-CL" sz="1100" dirty="0">
                        <a:solidFill>
                          <a:schemeClr val="tx1">
                            <a:lumMod val="75000"/>
                            <a:lumOff val="2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1515247"/>
                  </a:ext>
                </a:extLst>
              </a:tr>
              <a:tr h="298244">
                <a:tc>
                  <a:txBody>
                    <a:bodyPr/>
                    <a:lstStyle/>
                    <a:p>
                      <a:r>
                        <a:rPr lang="es-CL" sz="1100" dirty="0">
                          <a:solidFill>
                            <a:schemeClr val="tx1">
                              <a:lumMod val="75000"/>
                              <a:lumOff val="25000"/>
                            </a:schemeClr>
                          </a:solidFill>
                        </a:rPr>
                        <a:t>Above-7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116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263286"/>
                  </a:ext>
                </a:extLst>
              </a:tr>
              <a:tr h="298244">
                <a:tc>
                  <a:txBody>
                    <a:bodyPr/>
                    <a:lstStyle/>
                    <a:p>
                      <a:r>
                        <a:rPr lang="es-CL" sz="1100" dirty="0">
                          <a:solidFill>
                            <a:schemeClr val="tx1">
                              <a:lumMod val="75000"/>
                              <a:lumOff val="25000"/>
                            </a:schemeClr>
                          </a:solidFill>
                        </a:rPr>
                        <a:t>Under-7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138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140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CL" sz="1100" dirty="0">
                          <a:solidFill>
                            <a:schemeClr val="tx1">
                              <a:lumMod val="75000"/>
                              <a:lumOff val="25000"/>
                            </a:schemeClr>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4877452"/>
                  </a:ext>
                </a:extLst>
              </a:tr>
            </a:tbl>
          </a:graphicData>
        </a:graphic>
      </p:graphicFrame>
      <p:sp>
        <p:nvSpPr>
          <p:cNvPr id="5" name="TextBox 4">
            <a:extLst>
              <a:ext uri="{FF2B5EF4-FFF2-40B4-BE49-F238E27FC236}">
                <a16:creationId xmlns:a16="http://schemas.microsoft.com/office/drawing/2014/main" id="{51363BCC-1CDE-898A-13C9-4995E7F88029}"/>
              </a:ext>
            </a:extLst>
          </p:cNvPr>
          <p:cNvSpPr txBox="1"/>
          <p:nvPr/>
        </p:nvSpPr>
        <p:spPr>
          <a:xfrm>
            <a:off x="444500" y="5285150"/>
            <a:ext cx="3098800" cy="894732"/>
          </a:xfrm>
          <a:prstGeom prst="rect">
            <a:avLst/>
          </a:prstGeom>
          <a:noFill/>
        </p:spPr>
        <p:txBody>
          <a:bodyPr wrap="square">
            <a:spAutoFit/>
          </a:bodyPr>
          <a:lstStyle/>
          <a:p>
            <a:pPr algn="just">
              <a:lnSpc>
                <a:spcPct val="150000"/>
              </a:lnSpc>
            </a:pPr>
            <a:r>
              <a:rPr lang="es-MX" sz="1200" b="1" dirty="0">
                <a:solidFill>
                  <a:schemeClr val="bg1"/>
                </a:solidFill>
              </a:rPr>
              <a:t>Con menos de 7 ausencias: </a:t>
            </a:r>
            <a:r>
              <a:rPr lang="es-MX" sz="1200" dirty="0">
                <a:solidFill>
                  <a:schemeClr val="bg1"/>
                </a:solidFill>
              </a:rPr>
              <a:t>el 47.8% obtiene rendimiento alto y el 3.8% obtiene rendimiento bajo.</a:t>
            </a:r>
          </a:p>
        </p:txBody>
      </p:sp>
      <p:sp>
        <p:nvSpPr>
          <p:cNvPr id="11" name="TextBox 10">
            <a:extLst>
              <a:ext uri="{FF2B5EF4-FFF2-40B4-BE49-F238E27FC236}">
                <a16:creationId xmlns:a16="http://schemas.microsoft.com/office/drawing/2014/main" id="{AE1AD61B-939E-A342-370F-FD0FAE25ABD8}"/>
              </a:ext>
            </a:extLst>
          </p:cNvPr>
          <p:cNvSpPr txBox="1"/>
          <p:nvPr/>
        </p:nvSpPr>
        <p:spPr>
          <a:xfrm>
            <a:off x="4706626" y="5285150"/>
            <a:ext cx="6099174" cy="1169103"/>
          </a:xfrm>
          <a:prstGeom prst="rect">
            <a:avLst/>
          </a:prstGeom>
          <a:noFill/>
        </p:spPr>
        <p:txBody>
          <a:bodyPr wrap="square">
            <a:spAutoFit/>
          </a:bodyPr>
          <a:lstStyle/>
          <a:p>
            <a:pPr algn="just">
              <a:lnSpc>
                <a:spcPct val="150000"/>
              </a:lnSpc>
            </a:pPr>
            <a:r>
              <a:rPr lang="es-MX" sz="1200" b="1" dirty="0">
                <a:latin typeface="Montserrat" panose="00000500000000000000" pitchFamily="2" charset="0"/>
              </a:rPr>
              <a:t>Conclusión:</a:t>
            </a:r>
            <a:r>
              <a:rPr lang="es-MX" sz="1200" dirty="0">
                <a:latin typeface="Montserrat" panose="00000500000000000000" pitchFamily="2" charset="0"/>
              </a:rPr>
              <a:t> el gráfico confirma visualmente que las ausencias tienen un impacto directo en el rendimiento. Con más de 7 ausencias el nivel Bajo domina claramente, mientras que con menos de 7 ausencias el nivel alto y Medio son los predominantes.</a:t>
            </a:r>
            <a:endParaRPr lang="es-CL" sz="1200" dirty="0">
              <a:latin typeface="Montserrat" panose="00000500000000000000" pitchFamily="2" charset="0"/>
            </a:endParaRPr>
          </a:p>
        </p:txBody>
      </p:sp>
      <p:pic>
        <p:nvPicPr>
          <p:cNvPr id="16" name="Picture 15">
            <a:extLst>
              <a:ext uri="{FF2B5EF4-FFF2-40B4-BE49-F238E27FC236}">
                <a16:creationId xmlns:a16="http://schemas.microsoft.com/office/drawing/2014/main" id="{C0241A92-D0AA-B07B-640D-68D9783714D1}"/>
              </a:ext>
            </a:extLst>
          </p:cNvPr>
          <p:cNvPicPr>
            <a:picLocks noChangeAspect="1"/>
          </p:cNvPicPr>
          <p:nvPr/>
        </p:nvPicPr>
        <p:blipFill>
          <a:blip r:embed="rId2"/>
          <a:stretch>
            <a:fillRect/>
          </a:stretch>
        </p:blipFill>
        <p:spPr>
          <a:xfrm>
            <a:off x="4706626" y="1649115"/>
            <a:ext cx="6296647" cy="3559770"/>
          </a:xfrm>
          <a:prstGeom prst="rect">
            <a:avLst/>
          </a:prstGeom>
        </p:spPr>
      </p:pic>
    </p:spTree>
    <p:extLst>
      <p:ext uri="{BB962C8B-B14F-4D97-AF65-F5344CB8AC3E}">
        <p14:creationId xmlns:p14="http://schemas.microsoft.com/office/powerpoint/2010/main" val="2302135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984C0BD-C14C-91D0-763C-04F0B06BFE7D}"/>
              </a:ext>
            </a:extLst>
          </p:cNvPr>
          <p:cNvSpPr>
            <a:spLocks noGrp="1"/>
          </p:cNvSpPr>
          <p:nvPr>
            <p:ph type="body" sz="quarter" idx="10"/>
          </p:nvPr>
        </p:nvSpPr>
        <p:spPr>
          <a:xfrm>
            <a:off x="1429410" y="318649"/>
            <a:ext cx="9153776" cy="651165"/>
          </a:xfrm>
        </p:spPr>
        <p:txBody>
          <a:bodyPr/>
          <a:lstStyle/>
          <a:p>
            <a:r>
              <a:rPr lang="es-CL" dirty="0"/>
              <a:t>Pregunta Principal: Factores Socioeconómicos</a:t>
            </a:r>
          </a:p>
        </p:txBody>
      </p:sp>
      <p:sp>
        <p:nvSpPr>
          <p:cNvPr id="8" name="Text Placeholder 7">
            <a:extLst>
              <a:ext uri="{FF2B5EF4-FFF2-40B4-BE49-F238E27FC236}">
                <a16:creationId xmlns:a16="http://schemas.microsoft.com/office/drawing/2014/main" id="{B24B155F-A1DD-55CB-BF82-C103D9CECA4C}"/>
              </a:ext>
            </a:extLst>
          </p:cNvPr>
          <p:cNvSpPr>
            <a:spLocks noGrp="1"/>
          </p:cNvSpPr>
          <p:nvPr>
            <p:ph type="body" sz="quarter" idx="11"/>
          </p:nvPr>
        </p:nvSpPr>
        <p:spPr>
          <a:xfrm>
            <a:off x="648909" y="2043485"/>
            <a:ext cx="4861345" cy="3212327"/>
          </a:xfrm>
        </p:spPr>
        <p:txBody>
          <a:bodyPr/>
          <a:lstStyle/>
          <a:p>
            <a:pPr>
              <a:lnSpc>
                <a:spcPct val="150000"/>
              </a:lnSpc>
            </a:pPr>
            <a:r>
              <a:rPr lang="es-CL" sz="1200" b="1" dirty="0">
                <a:solidFill>
                  <a:schemeClr val="tx1">
                    <a:lumMod val="65000"/>
                    <a:lumOff val="35000"/>
                  </a:schemeClr>
                </a:solidFill>
                <a:latin typeface="Montserrat" panose="00000500000000000000" pitchFamily="2" charset="0"/>
              </a:rPr>
              <a:t>Dado que no registramos ingresos directos, recurrimos a variables de aproximación:</a:t>
            </a:r>
          </a:p>
          <a:p>
            <a:pPr algn="just">
              <a:lnSpc>
                <a:spcPct val="150000"/>
              </a:lnSpc>
            </a:pPr>
            <a:r>
              <a:rPr lang="es-CL" sz="1200" dirty="0">
                <a:solidFill>
                  <a:schemeClr val="tx1">
                    <a:lumMod val="65000"/>
                    <a:lumOff val="35000"/>
                  </a:schemeClr>
                </a:solidFill>
                <a:latin typeface="Montserrat" panose="00000500000000000000" pitchFamily="2" charset="0"/>
              </a:rPr>
              <a:t>Brecha Digital (</a:t>
            </a:r>
            <a:r>
              <a:rPr lang="es-CL" sz="1200" dirty="0" err="1">
                <a:solidFill>
                  <a:schemeClr val="tx1">
                    <a:lumMod val="65000"/>
                    <a:lumOff val="35000"/>
                  </a:schemeClr>
                </a:solidFill>
                <a:latin typeface="Montserrat" panose="00000500000000000000" pitchFamily="2" charset="0"/>
              </a:rPr>
              <a:t>VisITedResources</a:t>
            </a:r>
            <a:r>
              <a:rPr lang="es-CL" sz="1200" dirty="0">
                <a:solidFill>
                  <a:schemeClr val="tx1">
                    <a:lumMod val="65000"/>
                    <a:lumOff val="35000"/>
                  </a:schemeClr>
                </a:solidFill>
                <a:latin typeface="Montserrat" panose="00000500000000000000" pitchFamily="2" charset="0"/>
              </a:rPr>
              <a:t>): Equipos y conectividad limitada en hogares vulnerables explican los bajos promedios de visitas (18.32).</a:t>
            </a:r>
          </a:p>
          <a:p>
            <a:pPr>
              <a:lnSpc>
                <a:spcPct val="150000"/>
              </a:lnSpc>
            </a:pPr>
            <a:r>
              <a:rPr lang="es-CL" sz="1200" dirty="0">
                <a:solidFill>
                  <a:schemeClr val="tx1">
                    <a:lumMod val="65000"/>
                    <a:lumOff val="35000"/>
                  </a:schemeClr>
                </a:solidFill>
                <a:latin typeface="Montserrat" panose="00000500000000000000" pitchFamily="2" charset="0"/>
              </a:rPr>
              <a:t>Vulnerabilidad de Entorno (</a:t>
            </a:r>
            <a:r>
              <a:rPr lang="es-CL" sz="1200" dirty="0" err="1">
                <a:solidFill>
                  <a:schemeClr val="tx1">
                    <a:lumMod val="65000"/>
                    <a:lumOff val="35000"/>
                  </a:schemeClr>
                </a:solidFill>
                <a:latin typeface="Montserrat" panose="00000500000000000000" pitchFamily="2" charset="0"/>
              </a:rPr>
              <a:t>StudentAbsenceDays</a:t>
            </a:r>
            <a:r>
              <a:rPr lang="es-CL" sz="1200" dirty="0">
                <a:solidFill>
                  <a:schemeClr val="tx1">
                    <a:lumMod val="65000"/>
                    <a:lumOff val="35000"/>
                  </a:schemeClr>
                </a:solidFill>
                <a:latin typeface="Montserrat" panose="00000500000000000000" pitchFamily="2" charset="0"/>
              </a:rPr>
              <a:t>): El ausentismo crónico correlaciona con transporte deficiente o barreras de salud.</a:t>
            </a:r>
          </a:p>
          <a:p>
            <a:pPr>
              <a:lnSpc>
                <a:spcPct val="150000"/>
              </a:lnSpc>
            </a:pPr>
            <a:r>
              <a:rPr lang="es-CL" sz="1200" dirty="0">
                <a:solidFill>
                  <a:schemeClr val="tx1">
                    <a:lumMod val="65000"/>
                    <a:lumOff val="35000"/>
                  </a:schemeClr>
                </a:solidFill>
                <a:latin typeface="Montserrat" panose="00000500000000000000" pitchFamily="2" charset="0"/>
              </a:rPr>
              <a:t>Capital Cultural y Soporte Familiar (</a:t>
            </a:r>
            <a:r>
              <a:rPr lang="es-CL" sz="1200" dirty="0" err="1">
                <a:solidFill>
                  <a:schemeClr val="tx1">
                    <a:lumMod val="65000"/>
                    <a:lumOff val="35000"/>
                  </a:schemeClr>
                </a:solidFill>
                <a:latin typeface="Montserrat" panose="00000500000000000000" pitchFamily="2" charset="0"/>
              </a:rPr>
              <a:t>ParentAnsweringSurvey</a:t>
            </a:r>
            <a:r>
              <a:rPr lang="es-CL" sz="1200" dirty="0">
                <a:solidFill>
                  <a:schemeClr val="tx1">
                    <a:lumMod val="65000"/>
                    <a:lumOff val="35000"/>
                  </a:schemeClr>
                </a:solidFill>
                <a:latin typeface="Montserrat" panose="00000500000000000000" pitchFamily="2" charset="0"/>
              </a:rPr>
              <a:t>): Refleja el involucramiento y acompañamiento activo de los padres.</a:t>
            </a:r>
          </a:p>
        </p:txBody>
      </p:sp>
      <p:sp>
        <p:nvSpPr>
          <p:cNvPr id="10" name="Text Placeholder 9">
            <a:extLst>
              <a:ext uri="{FF2B5EF4-FFF2-40B4-BE49-F238E27FC236}">
                <a16:creationId xmlns:a16="http://schemas.microsoft.com/office/drawing/2014/main" id="{9B2AE88A-3B2B-9E62-5241-4D070A3C4D7A}"/>
              </a:ext>
            </a:extLst>
          </p:cNvPr>
          <p:cNvSpPr>
            <a:spLocks noGrp="1"/>
          </p:cNvSpPr>
          <p:nvPr>
            <p:ph type="body" sz="quarter" idx="12"/>
          </p:nvPr>
        </p:nvSpPr>
        <p:spPr>
          <a:xfrm>
            <a:off x="6384899" y="1729482"/>
            <a:ext cx="5667076" cy="4281342"/>
          </a:xfrm>
        </p:spPr>
        <p:txBody>
          <a:bodyPr/>
          <a:lstStyle/>
          <a:p>
            <a:r>
              <a:rPr lang="es-CL" sz="1600" b="1" dirty="0"/>
              <a:t>Participación de los familiares</a:t>
            </a:r>
          </a:p>
          <a:p>
            <a:r>
              <a:rPr lang="es-CL" sz="1200" b="1" dirty="0"/>
              <a:t>Participación de la madre</a:t>
            </a:r>
          </a:p>
          <a:p>
            <a:r>
              <a:rPr lang="es-CL" sz="1200" dirty="0"/>
              <a:t>Si participa (SÍ): La reprobación (L) cae al 3.1% y el rendimiento alto (H) se dispara al 60.0%.</a:t>
            </a:r>
          </a:p>
          <a:p>
            <a:r>
              <a:rPr lang="es-CL" sz="1200" dirty="0"/>
              <a:t>Si no participa (NO): El rendimiento alto (H) se sostiene de forma notable en un 32.8%.</a:t>
            </a:r>
          </a:p>
          <a:p>
            <a:r>
              <a:rPr lang="es-CL" sz="1200" b="1" dirty="0"/>
              <a:t>Participación del padre</a:t>
            </a:r>
          </a:p>
          <a:p>
            <a:r>
              <a:rPr lang="es-CL" sz="1200" dirty="0"/>
              <a:t>Si no participa (NO): Detona el escenario más peligroso con un 55.9% de reprobación (L) y solo 4.2% en rendimiento alto (H).</a:t>
            </a:r>
          </a:p>
          <a:p>
            <a:r>
              <a:rPr lang="es-CL" sz="1200" dirty="0"/>
              <a:t>Si participa (SÍ): Mitiga con éxito el riesgo, reduciendo la reprobación (L) al 17.1%.</a:t>
            </a:r>
          </a:p>
          <a:p>
            <a:endParaRPr lang="es-CL" sz="1200" dirty="0"/>
          </a:p>
        </p:txBody>
      </p:sp>
    </p:spTree>
    <p:extLst>
      <p:ext uri="{BB962C8B-B14F-4D97-AF65-F5344CB8AC3E}">
        <p14:creationId xmlns:p14="http://schemas.microsoft.com/office/powerpoint/2010/main" val="1180094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9BAEF6-C716-8236-DED8-4C30862A9846}"/>
              </a:ext>
            </a:extLst>
          </p:cNvPr>
          <p:cNvSpPr>
            <a:spLocks noGrp="1"/>
          </p:cNvSpPr>
          <p:nvPr>
            <p:ph type="body" sz="quarter" idx="10"/>
          </p:nvPr>
        </p:nvSpPr>
        <p:spPr>
          <a:xfrm>
            <a:off x="1429410" y="318649"/>
            <a:ext cx="5834990" cy="651165"/>
          </a:xfrm>
        </p:spPr>
        <p:txBody>
          <a:bodyPr/>
          <a:lstStyle/>
          <a:p>
            <a:pPr algn="just"/>
            <a:r>
              <a:rPr lang="es-CL" dirty="0">
                <a:solidFill>
                  <a:schemeClr val="tx1">
                    <a:lumMod val="65000"/>
                    <a:lumOff val="35000"/>
                  </a:schemeClr>
                </a:solidFill>
              </a:rPr>
              <a:t>Sugerencias de Análisis Futuro</a:t>
            </a:r>
          </a:p>
          <a:p>
            <a:pPr algn="just"/>
            <a:endParaRPr lang="es-CL" dirty="0"/>
          </a:p>
        </p:txBody>
      </p:sp>
      <p:sp>
        <p:nvSpPr>
          <p:cNvPr id="3" name="Text Placeholder 2">
            <a:extLst>
              <a:ext uri="{FF2B5EF4-FFF2-40B4-BE49-F238E27FC236}">
                <a16:creationId xmlns:a16="http://schemas.microsoft.com/office/drawing/2014/main" id="{D4FF9501-F75D-4292-8BAF-296113F08EF3}"/>
              </a:ext>
            </a:extLst>
          </p:cNvPr>
          <p:cNvSpPr>
            <a:spLocks noGrp="1"/>
          </p:cNvSpPr>
          <p:nvPr>
            <p:ph type="body" sz="quarter" idx="11"/>
          </p:nvPr>
        </p:nvSpPr>
        <p:spPr>
          <a:xfrm>
            <a:off x="7264400" y="319083"/>
            <a:ext cx="2676275" cy="699227"/>
          </a:xfrm>
        </p:spPr>
        <p:txBody>
          <a:bodyPr/>
          <a:lstStyle/>
          <a:p>
            <a:r>
              <a:rPr lang="es-CL" dirty="0" err="1">
                <a:solidFill>
                  <a:schemeClr val="tx1">
                    <a:lumMod val="65000"/>
                    <a:lumOff val="35000"/>
                  </a:schemeClr>
                </a:solidFill>
              </a:rPr>
              <a:t>Dataset</a:t>
            </a:r>
            <a:r>
              <a:rPr lang="es-CL" dirty="0">
                <a:solidFill>
                  <a:schemeClr val="tx1">
                    <a:lumMod val="65000"/>
                    <a:lumOff val="35000"/>
                  </a:schemeClr>
                </a:solidFill>
              </a:rPr>
              <a:t> </a:t>
            </a:r>
            <a:r>
              <a:rPr lang="es-CL" dirty="0" err="1">
                <a:solidFill>
                  <a:schemeClr val="tx1">
                    <a:lumMod val="65000"/>
                    <a:lumOff val="35000"/>
                  </a:schemeClr>
                </a:solidFill>
              </a:rPr>
              <a:t>xAPI</a:t>
            </a:r>
            <a:r>
              <a:rPr lang="es-CL" dirty="0">
                <a:solidFill>
                  <a:schemeClr val="tx1">
                    <a:lumMod val="65000"/>
                    <a:lumOff val="35000"/>
                  </a:schemeClr>
                </a:solidFill>
              </a:rPr>
              <a:t>-Edu-Data</a:t>
            </a:r>
          </a:p>
        </p:txBody>
      </p:sp>
      <p:sp>
        <p:nvSpPr>
          <p:cNvPr id="4" name="Text Placeholder 3">
            <a:extLst>
              <a:ext uri="{FF2B5EF4-FFF2-40B4-BE49-F238E27FC236}">
                <a16:creationId xmlns:a16="http://schemas.microsoft.com/office/drawing/2014/main" id="{3E940FD6-08B2-A3FE-36DB-E5EC3FF110F8}"/>
              </a:ext>
            </a:extLst>
          </p:cNvPr>
          <p:cNvSpPr>
            <a:spLocks noGrp="1"/>
          </p:cNvSpPr>
          <p:nvPr>
            <p:ph type="body" sz="quarter" idx="12"/>
          </p:nvPr>
        </p:nvSpPr>
        <p:spPr>
          <a:xfrm>
            <a:off x="4209820" y="2479820"/>
            <a:ext cx="7143980" cy="3387580"/>
          </a:xfrm>
        </p:spPr>
        <p:txBody>
          <a:bodyPr/>
          <a:lstStyle/>
          <a:p>
            <a:r>
              <a:rPr lang="es-CL" sz="1200" dirty="0">
                <a:latin typeface="Montserrat" panose="00000500000000000000" pitchFamily="2" charset="0"/>
              </a:rPr>
              <a:t>El siguiente análisis abre la puerta a nuevas líneas de investigación utilizando variables disponibles en el mismo </a:t>
            </a:r>
            <a:r>
              <a:rPr lang="es-CL" sz="1200" dirty="0" err="1">
                <a:latin typeface="Montserrat" panose="00000500000000000000" pitchFamily="2" charset="0"/>
              </a:rPr>
              <a:t>dataset</a:t>
            </a:r>
            <a:r>
              <a:rPr lang="es-CL" sz="1200" dirty="0">
                <a:latin typeface="Montserrat" panose="00000500000000000000" pitchFamily="2" charset="0"/>
              </a:rPr>
              <a:t>:</a:t>
            </a:r>
          </a:p>
          <a:p>
            <a:r>
              <a:rPr lang="es-CL" sz="1200" b="1" dirty="0">
                <a:latin typeface="Montserrat" panose="00000500000000000000" pitchFamily="2" charset="0"/>
              </a:rPr>
              <a:t>Análisis por género: </a:t>
            </a:r>
            <a:r>
              <a:rPr lang="es-CL" sz="1200" dirty="0">
                <a:latin typeface="Montserrat" panose="00000500000000000000" pitchFamily="2" charset="0"/>
              </a:rPr>
              <a:t>Investigar si existe diferencia en los factores analizados entre estudiantes hombres y mujeres.</a:t>
            </a:r>
          </a:p>
          <a:p>
            <a:r>
              <a:rPr lang="es-CL" sz="1200" b="1" dirty="0">
                <a:latin typeface="Montserrat" panose="00000500000000000000" pitchFamily="2" charset="0"/>
              </a:rPr>
              <a:t>Análisis por materia: </a:t>
            </a:r>
            <a:r>
              <a:rPr lang="es-CL" sz="1200" dirty="0">
                <a:latin typeface="Montserrat" panose="00000500000000000000" pitchFamily="2" charset="0"/>
              </a:rPr>
              <a:t>Explorar si el rendimiento varía según la materia que estudia el estudiante.</a:t>
            </a:r>
          </a:p>
          <a:p>
            <a:r>
              <a:rPr lang="es-CL" sz="1200" b="1" dirty="0">
                <a:latin typeface="Montserrat" panose="00000500000000000000" pitchFamily="2" charset="0"/>
              </a:rPr>
              <a:t>Análisis por semestre: </a:t>
            </a:r>
            <a:r>
              <a:rPr lang="es-CL" sz="1200" dirty="0">
                <a:latin typeface="Montserrat" panose="00000500000000000000" pitchFamily="2" charset="0"/>
              </a:rPr>
              <a:t>Comparar si los patrones de comportamiento cambian entre el primer y segundo semestre.</a:t>
            </a:r>
          </a:p>
          <a:p>
            <a:r>
              <a:rPr lang="es-CL" sz="1200" b="1" dirty="0">
                <a:latin typeface="Montserrat" panose="00000500000000000000" pitchFamily="2" charset="0"/>
              </a:rPr>
              <a:t>Análisis por nivel educativo: </a:t>
            </a:r>
            <a:r>
              <a:rPr lang="es-CL" sz="1200" dirty="0">
                <a:latin typeface="Montserrat" panose="00000500000000000000" pitchFamily="2" charset="0"/>
              </a:rPr>
              <a:t>Investigar si los factores tienen diferente impacto según el nivel educativo (</a:t>
            </a:r>
            <a:r>
              <a:rPr lang="es-CL" sz="1200" dirty="0" err="1">
                <a:latin typeface="Montserrat" panose="00000500000000000000" pitchFamily="2" charset="0"/>
              </a:rPr>
              <a:t>lowerlevel</a:t>
            </a:r>
            <a:r>
              <a:rPr lang="es-CL" sz="1200" dirty="0">
                <a:latin typeface="Montserrat" panose="00000500000000000000" pitchFamily="2" charset="0"/>
              </a:rPr>
              <a:t>, </a:t>
            </a:r>
            <a:r>
              <a:rPr lang="es-CL" sz="1200" dirty="0" err="1">
                <a:latin typeface="Montserrat" panose="00000500000000000000" pitchFamily="2" charset="0"/>
              </a:rPr>
              <a:t>MiddleSchool</a:t>
            </a:r>
            <a:r>
              <a:rPr lang="es-CL" sz="1200" dirty="0">
                <a:latin typeface="Montserrat" panose="00000500000000000000" pitchFamily="2" charset="0"/>
              </a:rPr>
              <a:t>, </a:t>
            </a:r>
            <a:r>
              <a:rPr lang="es-CL" sz="1200" dirty="0" err="1">
                <a:latin typeface="Montserrat" panose="00000500000000000000" pitchFamily="2" charset="0"/>
              </a:rPr>
              <a:t>HighSchool</a:t>
            </a:r>
            <a:r>
              <a:rPr lang="es-CL" sz="1200" dirty="0">
                <a:latin typeface="Montserrat" panose="00000500000000000000" pitchFamily="2" charset="0"/>
              </a:rPr>
              <a:t>).</a:t>
            </a:r>
          </a:p>
          <a:p>
            <a:endParaRPr lang="es-CL" sz="1200" dirty="0">
              <a:latin typeface="Montserrat" panose="00000500000000000000" pitchFamily="2" charset="0"/>
            </a:endParaRPr>
          </a:p>
          <a:p>
            <a:endParaRPr lang="es-CL" sz="1200" dirty="0"/>
          </a:p>
        </p:txBody>
      </p:sp>
      <p:sp>
        <p:nvSpPr>
          <p:cNvPr id="5" name="Text Placeholder 4">
            <a:extLst>
              <a:ext uri="{FF2B5EF4-FFF2-40B4-BE49-F238E27FC236}">
                <a16:creationId xmlns:a16="http://schemas.microsoft.com/office/drawing/2014/main" id="{C2D39016-F9EA-A481-C102-16BD64AD954E}"/>
              </a:ext>
            </a:extLst>
          </p:cNvPr>
          <p:cNvSpPr>
            <a:spLocks noGrp="1"/>
          </p:cNvSpPr>
          <p:nvPr>
            <p:ph type="body" sz="quarter" idx="13"/>
          </p:nvPr>
        </p:nvSpPr>
        <p:spPr/>
        <p:txBody>
          <a:bodyPr/>
          <a:lstStyle/>
          <a:p>
            <a:pPr algn="just"/>
            <a:r>
              <a:rPr lang="es-CL" dirty="0">
                <a:solidFill>
                  <a:schemeClr val="bg1"/>
                </a:solidFill>
              </a:rPr>
              <a:t>Cada respuesta abre una nueva pregunta</a:t>
            </a:r>
          </a:p>
        </p:txBody>
      </p:sp>
    </p:spTree>
    <p:extLst>
      <p:ext uri="{BB962C8B-B14F-4D97-AF65-F5344CB8AC3E}">
        <p14:creationId xmlns:p14="http://schemas.microsoft.com/office/powerpoint/2010/main" val="639998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4CC0A3F-33FD-9FAA-93B4-601AC9A1ACB4}"/>
              </a:ext>
            </a:extLst>
          </p:cNvPr>
          <p:cNvSpPr>
            <a:spLocks noGrp="1"/>
          </p:cNvSpPr>
          <p:nvPr>
            <p:ph type="body" sz="quarter" idx="10"/>
          </p:nvPr>
        </p:nvSpPr>
        <p:spPr>
          <a:xfrm>
            <a:off x="1429410" y="318649"/>
            <a:ext cx="4844390" cy="651165"/>
          </a:xfrm>
        </p:spPr>
        <p:txBody>
          <a:bodyPr/>
          <a:lstStyle/>
          <a:p>
            <a:r>
              <a:rPr lang="es-CL" dirty="0">
                <a:solidFill>
                  <a:schemeClr val="tx1">
                    <a:lumMod val="65000"/>
                    <a:lumOff val="35000"/>
                  </a:schemeClr>
                </a:solidFill>
              </a:rPr>
              <a:t>Conclusiones</a:t>
            </a:r>
          </a:p>
        </p:txBody>
      </p:sp>
      <p:sp>
        <p:nvSpPr>
          <p:cNvPr id="11" name="Text Placeholder 10">
            <a:extLst>
              <a:ext uri="{FF2B5EF4-FFF2-40B4-BE49-F238E27FC236}">
                <a16:creationId xmlns:a16="http://schemas.microsoft.com/office/drawing/2014/main" id="{1A4B0D36-F83A-C505-0873-528E1AFBB762}"/>
              </a:ext>
            </a:extLst>
          </p:cNvPr>
          <p:cNvSpPr>
            <a:spLocks noGrp="1"/>
          </p:cNvSpPr>
          <p:nvPr>
            <p:ph type="body" sz="quarter" idx="11"/>
          </p:nvPr>
        </p:nvSpPr>
        <p:spPr>
          <a:xfrm>
            <a:off x="6337300" y="319083"/>
            <a:ext cx="4006850" cy="699227"/>
          </a:xfrm>
        </p:spPr>
        <p:txBody>
          <a:bodyPr/>
          <a:lstStyle/>
          <a:p>
            <a:r>
              <a:rPr lang="es-CL" dirty="0" err="1">
                <a:solidFill>
                  <a:schemeClr val="tx1">
                    <a:lumMod val="65000"/>
                    <a:lumOff val="35000"/>
                  </a:schemeClr>
                </a:solidFill>
              </a:rPr>
              <a:t>Dataset</a:t>
            </a:r>
            <a:r>
              <a:rPr lang="es-CL" dirty="0">
                <a:solidFill>
                  <a:schemeClr val="tx1">
                    <a:lumMod val="65000"/>
                    <a:lumOff val="35000"/>
                  </a:schemeClr>
                </a:solidFill>
              </a:rPr>
              <a:t> </a:t>
            </a:r>
            <a:r>
              <a:rPr lang="es-CL" dirty="0" err="1">
                <a:solidFill>
                  <a:schemeClr val="tx1">
                    <a:lumMod val="65000"/>
                    <a:lumOff val="35000"/>
                  </a:schemeClr>
                </a:solidFill>
              </a:rPr>
              <a:t>xAPI</a:t>
            </a:r>
            <a:r>
              <a:rPr lang="es-CL" dirty="0">
                <a:solidFill>
                  <a:schemeClr val="tx1">
                    <a:lumMod val="65000"/>
                    <a:lumOff val="35000"/>
                  </a:schemeClr>
                </a:solidFill>
              </a:rPr>
              <a:t>-Edu-Data</a:t>
            </a:r>
          </a:p>
        </p:txBody>
      </p:sp>
      <p:sp>
        <p:nvSpPr>
          <p:cNvPr id="12" name="Text Placeholder 11">
            <a:extLst>
              <a:ext uri="{FF2B5EF4-FFF2-40B4-BE49-F238E27FC236}">
                <a16:creationId xmlns:a16="http://schemas.microsoft.com/office/drawing/2014/main" id="{6616B318-EDBC-E92C-CB0C-6717748267CA}"/>
              </a:ext>
            </a:extLst>
          </p:cNvPr>
          <p:cNvSpPr>
            <a:spLocks noGrp="1"/>
          </p:cNvSpPr>
          <p:nvPr>
            <p:ph type="body" sz="quarter" idx="12"/>
          </p:nvPr>
        </p:nvSpPr>
        <p:spPr>
          <a:xfrm>
            <a:off x="4613295" y="1525442"/>
            <a:ext cx="5730855" cy="3070080"/>
          </a:xfrm>
        </p:spPr>
        <p:txBody>
          <a:bodyPr/>
          <a:lstStyle/>
          <a:p>
            <a:r>
              <a:rPr lang="es-CL" dirty="0"/>
              <a:t>A partir de las preguntas respondidas, sintetizamos los hallazgos principales y el perfil de estudiante asociado a cada nivel de rendimiento.</a:t>
            </a:r>
          </a:p>
          <a:p>
            <a:r>
              <a:rPr lang="es-CL" b="1" dirty="0"/>
              <a:t>Perfil de estudiante de nivel Alto:</a:t>
            </a:r>
            <a:r>
              <a:rPr lang="es-CL" dirty="0"/>
              <a:t> participa activamente, aprovecha los recursos de la plataforma, asiste regularmente a clases y cuenta principalmente a la madre como apoderada activa.</a:t>
            </a:r>
          </a:p>
          <a:p>
            <a:r>
              <a:rPr lang="es-CL" b="1" dirty="0"/>
              <a:t>Perfil de estudiante de nivel Bajo:</a:t>
            </a:r>
            <a:r>
              <a:rPr lang="es-CL" dirty="0"/>
              <a:t> baja participación, poco uso de recursos, alta ausencia, el rol de padre es esencial.</a:t>
            </a:r>
          </a:p>
          <a:p>
            <a:r>
              <a:rPr lang="es-CL" dirty="0"/>
              <a:t>El rendimiento académico no depende de un solo factor sino de la combinación de participación, asistencia, uso de recursos y soporte familiar.</a:t>
            </a:r>
          </a:p>
        </p:txBody>
      </p:sp>
      <p:sp>
        <p:nvSpPr>
          <p:cNvPr id="13" name="Text Placeholder 12">
            <a:extLst>
              <a:ext uri="{FF2B5EF4-FFF2-40B4-BE49-F238E27FC236}">
                <a16:creationId xmlns:a16="http://schemas.microsoft.com/office/drawing/2014/main" id="{4E2D6445-E408-F40E-316F-F706C69DB945}"/>
              </a:ext>
            </a:extLst>
          </p:cNvPr>
          <p:cNvSpPr>
            <a:spLocks noGrp="1"/>
          </p:cNvSpPr>
          <p:nvPr>
            <p:ph type="body" sz="quarter" idx="13"/>
          </p:nvPr>
        </p:nvSpPr>
        <p:spPr>
          <a:xfrm>
            <a:off x="714704" y="2479820"/>
            <a:ext cx="2828595" cy="1898360"/>
          </a:xfrm>
        </p:spPr>
        <p:txBody>
          <a:bodyPr/>
          <a:lstStyle/>
          <a:p>
            <a:pPr algn="just"/>
            <a:r>
              <a:rPr lang="es-CL" dirty="0">
                <a:solidFill>
                  <a:schemeClr val="bg1"/>
                </a:solidFill>
              </a:rPr>
              <a:t>La participación, el uso de recursos, la asistencia y soporte familiar definen el éxito académico.</a:t>
            </a:r>
          </a:p>
        </p:txBody>
      </p:sp>
    </p:spTree>
    <p:extLst>
      <p:ext uri="{BB962C8B-B14F-4D97-AF65-F5344CB8AC3E}">
        <p14:creationId xmlns:p14="http://schemas.microsoft.com/office/powerpoint/2010/main" val="569327567"/>
      </p:ext>
    </p:extLst>
  </p:cSld>
  <p:clrMapOvr>
    <a:masterClrMapping/>
  </p:clrMapOvr>
</p:sld>
</file>

<file path=ppt/theme/theme1.xml><?xml version="1.0" encoding="utf-8"?>
<a:theme xmlns:a="http://schemas.openxmlformats.org/drawingml/2006/main" name="Portad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3062</TotalTime>
  <Words>1002</Words>
  <Application>Microsoft Office PowerPoint</Application>
  <PresentationFormat>Widescreen</PresentationFormat>
  <Paragraphs>124</Paragraphs>
  <Slides>9</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9</vt:i4>
      </vt:variant>
    </vt:vector>
  </HeadingPairs>
  <TitlesOfParts>
    <vt:vector size="20" baseType="lpstr">
      <vt:lpstr>Aptos</vt:lpstr>
      <vt:lpstr>Arial</vt:lpstr>
      <vt:lpstr>Barlow Condensed ExtraBold</vt:lpstr>
      <vt:lpstr>Barlow Condensed Medium</vt:lpstr>
      <vt:lpstr>Barlow Condensed SemiBold</vt:lpstr>
      <vt:lpstr>Montserrat</vt:lpstr>
      <vt:lpstr>Montserrat Medium</vt:lpstr>
      <vt:lpstr>Montserrat SemiBold</vt:lpstr>
      <vt:lpstr>Portada</vt:lpstr>
      <vt:lpstr>Diseño personalizado</vt:lpstr>
      <vt:lpstr>1_Diseño personalizado</vt:lpstr>
      <vt:lpstr>Programación Científica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Daniela Viviana Figueroa Cuadra</dc:creator>
  <cp:lastModifiedBy>GASTON GATUSO</cp:lastModifiedBy>
  <cp:revision>297</cp:revision>
  <dcterms:created xsi:type="dcterms:W3CDTF">2024-02-10T20:49:14Z</dcterms:created>
  <dcterms:modified xsi:type="dcterms:W3CDTF">2026-07-01T01:21:57Z</dcterms:modified>
</cp:coreProperties>
</file>